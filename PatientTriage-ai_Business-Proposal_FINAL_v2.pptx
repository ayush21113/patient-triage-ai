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a68d7a19df42f5" /><Relationship Type="http://schemas.openxmlformats.org/officeDocument/2006/relationships/extended-properties" Target="/docProps/app.xml" Id="Rd57781e6f2c64a1d" /><Relationship Type="http://schemas.openxmlformats.org/officeDocument/2006/relationships/officeDocument" Target="/ppt/presentation.xml" Id="R730342226bb94a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1d582d890f4396"/>
  </p:sldMasterIdLst>
  <p:notesMasterIdLst>
    <p:notesMasterId xmlns:r="http://schemas.openxmlformats.org/officeDocument/2006/relationships" r:id="Rd090b6fcc4194783"/>
  </p:notesMasterIdLst>
  <p:sldIdLst>
    <p:sldId xmlns:r="http://schemas.openxmlformats.org/officeDocument/2006/relationships" id="256" r:id="R2a414a4c34d949b7"/>
    <p:sldId xmlns:r="http://schemas.openxmlformats.org/officeDocument/2006/relationships" id="257" r:id="R5a36bafb5f7a42d4"/>
    <p:sldId xmlns:r="http://schemas.openxmlformats.org/officeDocument/2006/relationships" id="258" r:id="Rf8655230320d4e0d"/>
    <p:sldId xmlns:r="http://schemas.openxmlformats.org/officeDocument/2006/relationships" id="259" r:id="Rab362e283ec84c36"/>
    <p:sldId xmlns:r="http://schemas.openxmlformats.org/officeDocument/2006/relationships" id="260" r:id="R6a9d3832ce504171"/>
    <p:sldId xmlns:r="http://schemas.openxmlformats.org/officeDocument/2006/relationships" id="261" r:id="Rf8d6d86b92db4b40"/>
    <p:sldId xmlns:r="http://schemas.openxmlformats.org/officeDocument/2006/relationships" id="262" r:id="R0526bc6a701a41b8"/>
    <p:sldId xmlns:r="http://schemas.openxmlformats.org/officeDocument/2006/relationships" id="263" r:id="R52fdf8e26c334e3a"/>
    <p:sldId xmlns:r="http://schemas.openxmlformats.org/officeDocument/2006/relationships" id="264" r:id="R71d58fafbf5a4e78"/>
    <p:sldId xmlns:r="http://schemas.openxmlformats.org/officeDocument/2006/relationships" id="265" r:id="R10c6aabb14b74485"/>
    <p:sldId xmlns:r="http://schemas.openxmlformats.org/officeDocument/2006/relationships" id="266" r:id="R2311ec25223b44c5"/>
    <p:sldId xmlns:r="http://schemas.openxmlformats.org/officeDocument/2006/relationships" id="267" r:id="Rc2af367a1bbb4862"/>
    <p:sldId xmlns:r="http://schemas.openxmlformats.org/officeDocument/2006/relationships" id="268" r:id="R3c67ccc6e148438f"/>
    <p:sldId xmlns:r="http://schemas.openxmlformats.org/officeDocument/2006/relationships" id="269" r:id="Rc45973042b8144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7b734c40a54474" /><Relationship Type="http://schemas.openxmlformats.org/officeDocument/2006/relationships/slideMaster" Target="/ppt/slideMasters/slideMaster1.xml" Id="R001d582d890f4396" /><Relationship Type="http://schemas.openxmlformats.org/officeDocument/2006/relationships/notesMaster" Target="/ppt/notesMasters/notesMaster1.xml" Id="Rd090b6fcc4194783" /><Relationship Type="http://schemas.openxmlformats.org/officeDocument/2006/relationships/presProps" Target="/ppt/presProps.xml" Id="R21b65878899e4240" /><Relationship Type="http://schemas.openxmlformats.org/officeDocument/2006/relationships/tableStyles" Target="/ppt/tableStyles.xml" Id="R5bfbdb4ce3074e7b" /><Relationship Type="http://schemas.openxmlformats.org/officeDocument/2006/relationships/slide" Target="/ppt/slides/slide1.xml" Id="R2a414a4c34d949b7" /><Relationship Type="http://schemas.openxmlformats.org/officeDocument/2006/relationships/slide" Target="/ppt/slides/slide2.xml" Id="R5a36bafb5f7a42d4" /><Relationship Type="http://schemas.openxmlformats.org/officeDocument/2006/relationships/slide" Target="/ppt/slides/slide3.xml" Id="Rf8655230320d4e0d" /><Relationship Type="http://schemas.openxmlformats.org/officeDocument/2006/relationships/slide" Target="/ppt/slides/slide4.xml" Id="Rab362e283ec84c36" /><Relationship Type="http://schemas.openxmlformats.org/officeDocument/2006/relationships/slide" Target="/ppt/slides/slide5.xml" Id="R6a9d3832ce504171" /><Relationship Type="http://schemas.openxmlformats.org/officeDocument/2006/relationships/slide" Target="/ppt/slides/slide6.xml" Id="Rf8d6d86b92db4b40" /><Relationship Type="http://schemas.openxmlformats.org/officeDocument/2006/relationships/slide" Target="/ppt/slides/slide7.xml" Id="R0526bc6a701a41b8" /><Relationship Type="http://schemas.openxmlformats.org/officeDocument/2006/relationships/slide" Target="/ppt/slides/slide8.xml" Id="R52fdf8e26c334e3a" /><Relationship Type="http://schemas.openxmlformats.org/officeDocument/2006/relationships/slide" Target="/ppt/slides/slide9.xml" Id="R71d58fafbf5a4e78" /><Relationship Type="http://schemas.openxmlformats.org/officeDocument/2006/relationships/slide" Target="/ppt/slides/slide10.xml" Id="R10c6aabb14b74485" /><Relationship Type="http://schemas.openxmlformats.org/officeDocument/2006/relationships/slide" Target="/ppt/slides/slide11.xml" Id="R2311ec25223b44c5" /><Relationship Type="http://schemas.openxmlformats.org/officeDocument/2006/relationships/slide" Target="/ppt/slides/slide12.xml" Id="Rc2af367a1bbb4862" /><Relationship Type="http://schemas.openxmlformats.org/officeDocument/2006/relationships/slide" Target="/ppt/slides/slide13.xml" Id="R3c67ccc6e148438f" /><Relationship Type="http://schemas.openxmlformats.org/officeDocument/2006/relationships/slide" Target="/ppt/slides/slide14.xml" Id="Rc45973042b8144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9f06e3a7ce49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8aed1251964d6d" /><Relationship Type="http://schemas.openxmlformats.org/officeDocument/2006/relationships/notesMaster" Target="/ppt/notesMasters/notesMaster1.xml" Id="R7e0363ad377c4a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4476bb464545cf" /><Relationship Type="http://schemas.openxmlformats.org/officeDocument/2006/relationships/notesMaster" Target="/ppt/notesMasters/notesMaster1.xml" Id="R916e46dbf8a242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f4053846d8481d" /><Relationship Type="http://schemas.openxmlformats.org/officeDocument/2006/relationships/notesMaster" Target="/ppt/notesMasters/notesMaster1.xml" Id="R4f49453db5dd44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2a21b33f184ce9" /><Relationship Type="http://schemas.openxmlformats.org/officeDocument/2006/relationships/notesMaster" Target="/ppt/notesMasters/notesMaster1.xml" Id="R552330d4e2fa4b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e10ab1793248ce" /><Relationship Type="http://schemas.openxmlformats.org/officeDocument/2006/relationships/notesMaster" Target="/ppt/notesMasters/notesMaster1.xml" Id="Re5b0d49e553845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a13a6f364d40f1" /><Relationship Type="http://schemas.openxmlformats.org/officeDocument/2006/relationships/notesMaster" Target="/ppt/notesMasters/notesMaster1.xml" Id="Rfe676968eadd47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3db7240c2a4fb9" /><Relationship Type="http://schemas.openxmlformats.org/officeDocument/2006/relationships/notesMaster" Target="/ppt/notesMasters/notesMaster1.xml" Id="R1c6b63473baf44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7be1a968f74503" /><Relationship Type="http://schemas.openxmlformats.org/officeDocument/2006/relationships/notesMaster" Target="/ppt/notesMasters/notesMaster1.xml" Id="R223cc5dd6e994a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bacdb9c5404f04" /><Relationship Type="http://schemas.openxmlformats.org/officeDocument/2006/relationships/notesMaster" Target="/ppt/notesMasters/notesMaster1.xml" Id="R6f597b35a2a840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89bcfd44f242fd" /><Relationship Type="http://schemas.openxmlformats.org/officeDocument/2006/relationships/notesMaster" Target="/ppt/notesMasters/notesMaster1.xml" Id="R9746d3b465d84ce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e63418487454ab6" /><Relationship Type="http://schemas.openxmlformats.org/officeDocument/2006/relationships/notesMaster" Target="/ppt/notesMasters/notesMaster1.xml" Id="Rf9b65df9bb6442c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da31bd30664f92" /><Relationship Type="http://schemas.openxmlformats.org/officeDocument/2006/relationships/notesMaster" Target="/ppt/notesMasters/notesMaster1.xml" Id="R7d51fcb923c041b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d782fcb995c44f3" /><Relationship Type="http://schemas.openxmlformats.org/officeDocument/2006/relationships/notesMaster" Target="/ppt/notesMasters/notesMaster1.xml" Id="R88f31aac6d25459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3bd66957a9b4210" /><Relationship Type="http://schemas.openxmlformats.org/officeDocument/2006/relationships/notesMaster" Target="/ppt/notesMasters/notesMaster1.xml" Id="Rc1aa97d310db41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C:\Users\PRO\Downloads\AIC_Talent-Brand_PPT-Template (1).pptx, first slide used as opening visual per user request.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C:\Users\PRO\Desktop\Accenture_Innovation_Challenge_2026\mayhem.pdf, page 2 rendered and used as slide 2 per user request.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User request: Detailed Business Proposal for PatientTriage.ai.</a:t>
            </a:r>
          </a:p>
          <a:p xmlns:a="http://schemas.openxmlformats.org/drawingml/2006/main">
            <a:r>
              <a:t>- Template reference: AIC_Talent-Brand_PPT-Template (1).pptx.</a:t>
            </a:r>
          </a:p>
          <a:p xmlns:a="http://schemas.openxmlformats.org/drawingml/2006/main">
            <a:r>
              <a:t>- Live deployment provided by user: https://patient-triage-ai-three.vercel.app/.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docs/01-PRD.md, problem framing and cited evidence table.</a:t>
            </a:r>
          </a:p>
          <a:p xmlns:a="http://schemas.openxmlformats.org/drawingml/2006/main">
            <a:r>
              <a:t>- docs/08-BRIEF-COVERAGE.md, Round 2 coverage 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docs/01-PRD.md, core principles.</a:t>
            </a:r>
          </a:p>
          <a:p xmlns:a="http://schemas.openxmlformats.org/drawingml/2006/main">
            <a:r>
              <a:t>- docs/02-TRD.md, engine and deployment constraints.</a:t>
            </a:r>
          </a:p>
          <a:p xmlns:a="http://schemas.openxmlformats.org/drawingml/2006/main">
            <a:r>
              <a:t>- docs/03-APP-FLOW.md, board and inspector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docs/08-BRIEF-COVERAGE.md, prototype coverage.</a:t>
            </a:r>
          </a:p>
          <a:p xmlns:a="http://schemas.openxmlformats.org/drawingml/2006/main">
            <a:r>
              <a:t>- assets/data/cohort.json, simulated cohort and expectation blocks.</a:t>
            </a:r>
          </a:p>
          <a:p xmlns:a="http://schemas.openxmlformats.org/drawingml/2006/main">
            <a:r>
              <a:t>- docs/ui-survey/S1-queue-NORMAL-1280x800-light.png, app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docs/01-PRD.md, target users, adoption constraints, and rollout assumptions.</a:t>
            </a:r>
          </a:p>
          <a:p xmlns:a="http://schemas.openxmlformats.org/drawingml/2006/main">
            <a:r>
              <a:t>- docs/08-BRIEF-COVERAGE.md, target user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docs/AGENTS.md, clinical invariants.</a:t>
            </a:r>
          </a:p>
          <a:p xmlns:a="http://schemas.openxmlformats.org/drawingml/2006/main">
            <a:r>
              <a:t>- docs/02-TRD.md, scoring engine, band floors, cost matrix, and rule evaluation.</a:t>
            </a:r>
          </a:p>
          <a:p xmlns:a="http://schemas.openxmlformats.org/drawingml/2006/main">
            <a:r>
              <a:t>- docs/05-BACKEND-SCHEMA.md, engine assertions and constraints.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docs/01-PRD.md, success metrics and rollout logic.</a:t>
            </a:r>
          </a:p>
          <a:p xmlns:a="http://schemas.openxmlformats.org/drawingml/2006/main">
            <a:r>
              <a:t>- README.md, static deployment and local execution instructions.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docs/01-PRD.md, success metrics and Day 1 offline-tablet rollout.</a:t>
            </a:r>
          </a:p>
          <a:p xmlns:a="http://schemas.openxmlformats.org/drawingml/2006/main">
            <a:r>
              <a:t>- README.md, prototype scope and local execution model.</a:t>
            </a:r>
          </a:p>
          <a:p xmlns:a="http://schemas.openxmlformats.org/drawingml/2006/main">
            <a:r>
              <a:t>- Business-case numbers are pilot-planning assumptions derived from the documented Stage 1 scope, not claimed measured ROI.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docs/05-BACKEND-SCHEMA.md, audit model and retention.</a:t>
            </a:r>
          </a:p>
          <a:p xmlns:a="http://schemas.openxmlformats.org/drawingml/2006/main">
            <a:r>
              <a:t>- docs/01-PRD.md, nurse authority and fairness monitoring.</a:t>
            </a:r>
          </a:p>
          <a:p xmlns:a="http://schemas.openxmlformats.org/drawingml/2006/main">
            <a:r>
              <a:t>- docs/08-BRIEF-COVERAGE.md, jurisdiction and compliance-review framing.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docs/01-PRD.md, staged rollout.</a:t>
            </a:r>
          </a:p>
          <a:p xmlns:a="http://schemas.openxmlformats.org/drawingml/2006/main">
            <a:r>
              <a:t>- docs/02-TRD.md, static deployment and future integration boundaries.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docs/01-PRD.md, risks, success metrics, and adoption model.</a:t>
            </a:r>
          </a:p>
          <a:p xmlns:a="http://schemas.openxmlformats.org/drawingml/2006/main">
            <a:r>
              <a:t>- docs/AGENTS.md and docs/02-TRD.md, non-negotiable invariants.</a:t>
            </a:r>
          </a:p>
          <a:p xmlns:a="http://schemas.openxmlformats.org/drawingml/2006/main">
            <a:r>
              <a:t>- docs/08-BRIEF-COVERAGE.md, risk and compliance coverage.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docs/01-PRD.md, pilot and success metrics.</a:t>
            </a:r>
          </a:p>
          <a:p xmlns:a="http://schemas.openxmlformats.org/drawingml/2006/main">
            <a:r>
              <a:t>- UI-SURVEY-BRIEF.md, arm's-length usability test.</a:t>
            </a:r>
          </a:p>
          <a:p xmlns:a="http://schemas.openxmlformats.org/drawingml/2006/main">
            <a:r>
              <a:t>- User-provided live deployment link.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91097d969f46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334562abea4434" /><Relationship Type="http://schemas.openxmlformats.org/officeDocument/2006/relationships/slideLayout" Target="/ppt/slideLayouts/slideLayout1.xml" Id="R2498e6e9622e47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98e6e9622e47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b29fc80e144b8" /><Relationship Type="http://schemas.openxmlformats.org/officeDocument/2006/relationships/image" Target="/ppt/media/image.png" Id="Rae3f629ea4b446a4" /><Relationship Type="http://schemas.openxmlformats.org/officeDocument/2006/relationships/notesSlide" Target="/ppt/notesSlides/notesSlide1.xml" Id="Rbe0a82cb2ec648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580fbc1352414a" /><Relationship Type="http://schemas.openxmlformats.org/officeDocument/2006/relationships/image" Target="/ppt/media/image2.png" Id="R1d45045408fe48ef" /><Relationship Type="http://schemas.openxmlformats.org/officeDocument/2006/relationships/notesSlide" Target="/ppt/notesSlides/notesSlide2.xml" Id="R23994e2b31f245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527522d2144ca" /><Relationship Type="http://schemas.openxmlformats.org/officeDocument/2006/relationships/notesSlide" Target="/ppt/notesSlides/notesSlide3.xml" Id="R1cdeee4a79d843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44207a0e98486b" /><Relationship Type="http://schemas.openxmlformats.org/officeDocument/2006/relationships/notesSlide" Target="/ppt/notesSlides/notesSlide4.xml" Id="Rb7843fbf75f34d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0e431cb8594f7f" /><Relationship Type="http://schemas.openxmlformats.org/officeDocument/2006/relationships/notesSlide" Target="/ppt/notesSlides/notesSlide5.xml" Id="Rcedf69f879194e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fb96477424397" /><Relationship Type="http://schemas.openxmlformats.org/officeDocument/2006/relationships/image" Target="/ppt/media/image3.png" Id="Rc431fa881c0c4c12" /><Relationship Type="http://schemas.openxmlformats.org/officeDocument/2006/relationships/notesSlide" Target="/ppt/notesSlides/notesSlide6.xml" Id="Rfce1801a182a46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1379b474b44a8" /><Relationship Type="http://schemas.openxmlformats.org/officeDocument/2006/relationships/notesSlide" Target="/ppt/notesSlides/notesSlide7.xml" Id="Rcd635bb707214b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d5e9c329c4171" /><Relationship Type="http://schemas.openxmlformats.org/officeDocument/2006/relationships/notesSlide" Target="/ppt/notesSlides/notesSlide8.xml" Id="R256822c04b5947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157fb474b42d4" /><Relationship Type="http://schemas.openxmlformats.org/officeDocument/2006/relationships/notesSlide" Target="/ppt/notesSlides/notesSlide9.xml" Id="Ree10339dcc584f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8a7305d4543a3" /><Relationship Type="http://schemas.openxmlformats.org/officeDocument/2006/relationships/notesSlide" Target="/ppt/notesSlides/notesSlide10.xml" Id="Ra4904e0cb8f440b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eadb527ac4972" /><Relationship Type="http://schemas.openxmlformats.org/officeDocument/2006/relationships/notesSlide" Target="/ppt/notesSlides/notesSlide11.xml" Id="R2b67ba486a884aa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82147a6674824" /><Relationship Type="http://schemas.openxmlformats.org/officeDocument/2006/relationships/notesSlide" Target="/ppt/notesSlides/notesSlide12.xml" Id="R7240f2f65c9149a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a7f51eb0446e3" /><Relationship Type="http://schemas.openxmlformats.org/officeDocument/2006/relationships/notesSlide" Target="/ppt/notesSlides/notesSlide13.xml" Id="R194d8180bc4a48e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b7e2748334a12" /><Relationship Type="http://schemas.openxmlformats.org/officeDocument/2006/relationships/notesSlide" Target="/ppt/notesSlides/notesSlide14.xml" Id="R19dfef2ff5cc4c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3f629ea4b446a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6729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45045408fe48e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1546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362BB5-5482-4FAB-A70E-AFA64160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572C8-C6F5-49E8-84EF-E606BE31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C88AC5-3584-455F-AFD2-BA6B63EC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485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PatientTriage.ai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04BBE-E623-4DB4-8E90-B17C152E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6DC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6DCFF"/>
                </a:solidFill>
                <a:latin typeface="Arial"/>
                <a:ea typeface="Arial"/>
                <a:cs typeface="Arial"/>
              </a:rPr>
              <a:t>DETAILED BUSINESS PROPOSAL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22C1FE-5C1B-41D0-ABB7-A23E97CE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6858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queue is alive.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Triage should be too.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788E4-A397-4B3E-B1BE-2690C569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A static, offline-capable decision-support layer for emergency-department waiting rooms.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DD3ABD-AF68-4C25-AEB4-278B82B8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0065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675F"/>
          </a:solidFill>
          <a:ln xmlns:a="http://schemas.openxmlformats.org/drawingml/2006/main" w="9525">
            <a:solidFill>
              <a:srgbClr val="6C67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3738C7-10FB-44E4-B612-B67905D2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5F2D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5F2DB"/>
                </a:solidFill>
                <a:latin typeface="Arial"/>
                <a:ea typeface="Arial"/>
                <a:cs typeface="Arial"/>
              </a:rPr>
              <a:t>Live prototype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1CA016-E7E1-47C6-ADE3-336B5598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292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patient-triage-ai-three.vercel.app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C40528-8046-4035-A04C-1F2236F1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914400"/>
            <a:ext cx="85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A100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A100FF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1564893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39234A-03F2-465A-9477-C6A3F0F1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PatientTriage.ai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9B7B6-A895-4FF1-802E-25C25E10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C675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DA735-9590-4B49-95F9-A2997C1B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17B4C-B8E4-4878-A3FA-F42F6E10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ED triage has a blind spot: 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769C98-DD51-41AB-8400-456863FF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A patient can become unsafe while still sitting in the same waiting-room chair.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EDEA0F-CA19-4D21-B925-85BC7BCC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000125"/>
            <a:ext cx="3143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4FD06-0FB3-48D5-938D-18B2BFDD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371600"/>
            <a:ext cx="2381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current system remembers the first answer.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4A2977-D4EA-4E32-83FF-437559D6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6DC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6DCFF"/>
                </a:solidFill>
                <a:latin typeface="Arial"/>
                <a:ea typeface="Arial"/>
                <a:cs typeface="Arial"/>
              </a:rPr>
              <a:t>Patient risk does not.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E1B772-4387-4988-A1DB-8792ED0A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718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That gap is where quiet crashes happen.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BFB106-A025-4154-9CE5-6D56CB49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3.3%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22345A-01EA-4FC3-AF2F-E96804D8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47975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undertriaged life-stabilising encounters in the PRD evidence 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F2A179-E90B-4788-B019-CA05AAC5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143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705E78-7668-4395-9CF9-071D7677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F50A0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50A0"/>
                </a:solidFill>
                <a:latin typeface="Arial"/>
                <a:ea typeface="Arial"/>
                <a:cs typeface="Arial"/>
              </a:rPr>
              <a:t>43%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35ECF0-CB1B-4BC8-924F-C07B6C32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14725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reported ESI decision point B accuracy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0BE653-A4AF-4C14-870D-FB176946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5143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F371CC-E783-4332-A888-87284DED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14h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5C6783-075E-4629-ABC7-744CAB4A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81475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consultation delay cited for a high-volume Indian ED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CFD1F3-74F4-4C58-92A8-84BBE003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9810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717A4A-B701-400A-8A82-00CADCB2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WHAT GOES WRONG DURING THE WAIT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C34A53-DEEA-4B4A-A3FE-CA45E839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09D6E7-ED5D-4575-B806-E8C62711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Sparse history, one-time category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0FC73E-E9DF-4712-BBF5-6F27B030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6578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100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100FF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7E90CF-5A6F-48B8-99C7-D350F0BD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6769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Queue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AF4C95-394F-4AED-B2C5-7FDACA09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9817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Crowding delays reassessment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260872-9FB5-45AF-8427-CC14ED50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6578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100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100FF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71D8C2-518C-4714-8C36-F6B5DCF9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6769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Drift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B11B94-F376-484D-8977-5723CBA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9817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Vitals and symptoms move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B3A2A6-690E-495C-B14F-692F927D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6578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100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100FF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CD6ECF-E7FE-49C0-9B9D-48D3A16D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6769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B1C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B1C11"/>
                </a:solidFill>
                <a:latin typeface="Arial"/>
                <a:ea typeface="Arial"/>
                <a:cs typeface="Arial"/>
              </a:rPr>
              <a:t>Miss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3FB4AF-9C1B-405E-9CF2-C57934EE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9817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Atypical risk stays invisible</a:t>
            </a:r>
          </a:p>
        </p:txBody>
      </p:sp>
    </p:spTree>
    <p:extLst>
      <p:ext uri="{BB962C8B-B14F-4D97-AF65-F5344CB8AC3E}">
        <p14:creationId xmlns:p14="http://schemas.microsoft.com/office/powerpoint/2010/main" val="2253595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20BF0D-2897-4EF4-8A72-6B5A9F64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PatientTriage.ai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BFDE5-24A3-4BEE-A22B-0B192A17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C67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325CC1-4139-47EA-B8B8-90609AE3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8A6D7B-8A66-48AA-999E-B56D4A7B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PatientTriage.ai keeps the waiting room clinically visible.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00AF43-DBBC-47EA-BF4C-FBDC2763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It does not replace triage. It watches for the cases that static triage is most likely to miss.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8592F-2890-4EE7-97E4-E71F86C1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SENSE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892EC-8386-4A64-B6F9-11ECB326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908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2201D"/>
                </a:solidFill>
                <a:latin typeface="Arial"/>
                <a:ea typeface="Arial"/>
                <a:cs typeface="Arial"/>
              </a:rPr>
              <a:t>Arrival complaint, vitals, age band, pregnancy status, visual signs, sparse reassessments.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11BB14-BC8B-4481-A56B-69EA095A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6381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BCCF86-F8A6-4828-857E-03A83F9F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0CBE68-49D5-40B1-B484-F73C41D5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671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2201D"/>
                </a:solidFill>
                <a:latin typeface="Arial"/>
                <a:ea typeface="Arial"/>
                <a:cs typeface="Arial"/>
              </a:rPr>
              <a:t>Hard rules + physiology + presentation risk + time hazard + uncertainty.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108BB9-B3E7-425B-8E40-BF7B4DFA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6381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8F8D58-761F-40BC-B167-DEE93416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815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A65722-1E15-4479-9B46-729D931D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434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2201D"/>
                </a:solidFill>
                <a:latin typeface="Arial"/>
                <a:ea typeface="Arial"/>
                <a:cs typeface="Arial"/>
              </a:rPr>
              <a:t>Confidence, derivation, fired rules, resolving question, and override state.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454D39-FE51-4299-904A-A3AB2CDE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53050"/>
            <a:ext cx="6381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0B6E2C-D53F-467E-853F-443E9C74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098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Nurse decides.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FB25B9-9BF9-45B6-A9F1-39E2CBEF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480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No patient movement. No treatment order. No hidden automation.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23BFF6-DA40-4F60-9492-BB167A5D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4345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The product earns trust by showing what it knows, what it does not know, and why it escalated.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0FBA81-BAAE-4736-A028-7AF69372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6578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07271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201CCA-0FA4-4B84-965F-9F932342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PatientTriage.ai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D387B4-212E-4D94-9534-38E96FA9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C67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60D5A4-1D79-4DDF-AAC7-03462030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929F5-28B9-4E2A-8085-F808BEF2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The prototype already tests the awkward cases.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BD6F97-485A-4C53-8C93-E4777D67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The demo is not just a happy path queue; it includes ambiguity, missing data, surge, and age-specific risk.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31fa881c0c4c12"/>
          <a:stretch xmlns:a="http://schemas.openxmlformats.org/drawingml/2006/main"/>
        </p:blipFill>
        <p:spPr>
          <a:xfrm xmlns:a="http://schemas.openxmlformats.org/drawingml/2006/main">
            <a:off x="828675" y="2705100"/>
            <a:ext cx="5562600" cy="3476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FD4504-CA8D-4851-9861-81B2237B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289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960CE-A6A0-4C76-B01F-1E3CB5F0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95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keyframed simulated patients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74017D-DEDA-4143-A078-2E02BE68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956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PT-0007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CA7731-A36C-4FC1-AAB5-FA49D93D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623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ambiguous abdominal pain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835738-64CF-44B2-8996-A8BDFCEB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624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1C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9B1C11"/>
                </a:solidFill>
                <a:latin typeface="Arial"/>
                <a:ea typeface="Arial"/>
                <a:cs typeface="Arial"/>
              </a:rPr>
              <a:t>PT-0013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983761-D7FB-4C17-8632-05C7D1E4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290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zero-history P1 lockout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7E2D17-BF71-4B62-AE6A-96C36057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291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3x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03DE0D-73F3-453A-B6AB-9A69A660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958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surge stress mode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356A32-BBFF-4D71-9AB3-75AC6234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959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Every score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FDA014-10E7-403E-B28F-D8E4151E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62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confidence + derivation</a:t>
            </a:r>
          </a:p>
        </p:txBody>
      </p:sp>
    </p:spTree>
    <p:extLst>
      <p:ext uri="{BB962C8B-B14F-4D97-AF65-F5344CB8AC3E}">
        <p14:creationId xmlns:p14="http://schemas.microsoft.com/office/powerpoint/2010/main" val="8605653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391B6A-552E-4011-A991-ED2C52D6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PatientTriage.ai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4B16C-A845-4A91-A67D-BEB8BF26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C67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574975-407C-417D-A34A-870C5EEC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1BE727-634D-41CB-B82A-A257D514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Designed for the people carrying the ED queue.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D2F942-CFF9-4C30-9AA2-1581D43F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The interface and operating model are built for interruption, sparse data, and clinical accountability.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6A5C64-22E6-4B36-9718-68AC3782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TRIAGE NURSE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E5658-7793-4CEA-ACDF-E8971811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Needs a fast second set of eyes, not another form.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4053CD-376E-4C56-8FDF-6226AEFF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95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CHARGE NURSE / ED PHYSICIAN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F64375-F09B-4C02-A58D-BFA67055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5755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Needs to know who is deteriorating before the next loud event.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B65867-EFFC-4F2A-BDDC-646A1374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CLINICAL GOVERNANCE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4AE0EE-B77F-42B8-ADA7-3782BE6D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Needs evidence: derivation, fairness monitor, override trail, protocol history.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70EEA8-446C-4381-82D7-20866599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958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HOSPITAL LEADERSHIP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D8252A-C917-4D50-BAC4-4AE1EFE0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5775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Needs a low-friction pilot before committing to integration spend.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FEA85C-3959-45E7-A0B7-753ABE9B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24150"/>
            <a:ext cx="1143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E95FA2-C847-4DA4-BA73-C27E5575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10191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56995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309E3A-7D10-4841-8865-9E524C9C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PatientTriage.ai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D12CC-D57E-4234-A9FA-638B6E9B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C675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F9748E-9DE7-4BBE-9D7F-4CCA966E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A1059-9D7C-4C63-B2E6-0792A5B9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The safety architecture is intentionally conservative.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F45BE-9E00-438F-882A-F0F3EA9C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Undertriage is treated as more costly than overtriage, and uncertainty is shown rather than averaged away.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DEE874-FF9E-43F0-BCDC-C5BA2B7F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419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C11"/>
          </a:solidFill>
          <a:ln xmlns:a="http://schemas.openxmlformats.org/drawingml/2006/main" w="9525">
            <a:solidFill>
              <a:srgbClr val="9B1C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5BA08D-6767-4EF6-9526-256A0C53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670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Hard clinical gates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7CBE2E-5692-4107-A641-35E07E09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956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PIN_P1 and FLOOR_P2 outrank the model.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146877-3C99-4FF5-BEA1-E1584203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419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8465D-8D63-46AE-827A-7DADFC37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528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Population-specific physiology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3EA704-6C6E-413C-AF3C-DE5A71BD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814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Age band and pregnancy path selected before thresholds.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B21462-F88E-4FB3-8209-81EA742B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419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246F00-E653-47B8-8B8F-468B2BF3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386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Presentation floors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5B4E65-59C4-4EC6-B292-11F325ED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672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Dangerous symptoms can escalate despite normal vitals.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8322D2-30FF-43CA-BC7F-0AA7856B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419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9998CC-48C5-46A1-80BD-0E05E2CF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244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Uncertainty states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13352E-497B-491A-94CF-884C4DBE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530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UNRESOLVED asks; UNRESOLVABLE escalates; INSUFFICIENT refuses false certainty.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4E63E8-49D2-47C7-AAD0-D1E45BDC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1465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8770C1-9571-4FA1-B21B-DC507FB3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95650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8:1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CC3F86-3C19-48C3-A496-70F5E142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98145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DC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6DCFF"/>
                </a:solidFill>
                <a:latin typeface="Arial"/>
                <a:ea typeface="Arial"/>
                <a:cs typeface="Arial"/>
              </a:rPr>
              <a:t>undertriage asymmetry</a:t>
            </a:r>
          </a:p>
        </p:txBody>
      </p:sp>
    </p:spTree>
    <p:extLst>
      <p:ext uri="{BB962C8B-B14F-4D97-AF65-F5344CB8AC3E}">
        <p14:creationId xmlns:p14="http://schemas.microsoft.com/office/powerpoint/2010/main" val="5335452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642A03-9A51-461E-9F70-12282B09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PatientTriage.ai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25A1A2-1FED-4EAF-B070-409589A7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C675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D6B08-2CA8-4936-BB0C-DB5FE47E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18939-6262-41A9-B09C-414A2C05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The business case is safer escalation without rip-and-replace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8FB6CD-4B2D-4D5D-9F35-A0BF7140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PatientTriage.ai creates value before deep integration: it gives clinicians a live queue signal and gives leaders an auditable safety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3CBDB5-DF9C-4FD5-950A-3AEDD2FB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71800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100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100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47B4E-700A-43A6-95D6-3D433AA0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099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Reduce quiet-crash risk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8313A8-ACCE-4DCB-884D-975FF653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40995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Earlier visibility for patients becoming unsafe while waiting.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C7B50-EE30-458A-85ED-55BCDB88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24350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100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100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3DE12D-63BE-488C-AC70-119737D9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62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Pilot quickly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53EE2C-8126-48B4-85C3-9058E8C5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625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Stage 1 runs on one offline-capable tablet with no new integration.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39C772-F1BA-4C73-8257-4ED41E91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52750"/>
            <a:ext cx="31432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5B5C49-B3F3-4579-9BDD-90943D23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95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5F2D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5F2DB"/>
                </a:solidFill>
                <a:latin typeface="Arial"/>
                <a:ea typeface="Arial"/>
                <a:cs typeface="Arial"/>
              </a:rPr>
              <a:t>What not to optimise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244ECE-9FCC-45A1-9489-3CD241C3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338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Average wait 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99BF96-A0F3-4A23-8B6F-359EBFE0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67200"/>
            <a:ext cx="2143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The success metric is whether the highest-risk waiting patients are seen sooner.</a:t>
            </a:r>
          </a:p>
        </p:txBody>
      </p:sp>
    </p:spTree>
    <p:extLst>
      <p:ext uri="{BB962C8B-B14F-4D97-AF65-F5344CB8AC3E}">
        <p14:creationId xmlns:p14="http://schemas.microsoft.com/office/powerpoint/2010/main" val="21127561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10B784-9BA5-4EAE-8214-E15C7233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PatientTriage.ai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CFD4D-0E8D-4037-B2F0-0B7642AC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C675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BEF301-E9B3-461E-A51D-F6363337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06E18-4B44-41D1-B7E1-C6731647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Pilot economics are small enough to test, but measurable enough to judge.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6E2DD-8614-4891-A570-625AC79B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The proposal does not need a claimed ROI to be credible; it needs a falsifiable pilot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9CE61C-0B9F-425C-B8B8-9D4954B2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PILOT ENVELOPE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08ACE7-9434-4AF8-9123-402505E5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4-6 weeks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62A252-8DBE-4A2F-B110-1E49B615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one ED observation window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E40413-53F2-47A4-9297-50A39E62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1813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1 tablet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BDA7B1-8C4E-4665-9FD2-F7E062AD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60045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Stage 1 hardware footprint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86B76F-DA33-4285-BD16-607BCD69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1813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50A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50A0"/>
                </a:solidFill>
                <a:latin typeface="Arial"/>
                <a:ea typeface="Arial"/>
                <a:cs typeface="Arial"/>
              </a:rPr>
              <a:t>No EHR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F929E2-3791-4FAF-8E03-D71FC6EE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0045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manual/simulated data entry for first pilot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F28694-1869-4690-BB9E-2B7C0DEC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1813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Weekly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F1EC57-DAA5-4667-81FD-CCCD7E63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60045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clinical governance cadence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6F1330-B439-4059-B54D-8B92D648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9810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6BAB4F-DD90-4650-9882-C650BAE6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BREAK-EVEN LOGIC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9768E9-912A-4CBE-B9A5-D70DA100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If the pilot prevents even a small number of clinically significant waiting-room escalations, the value case moves from software efficiency to risk reduction.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2F7FB2-3BEC-4F72-A8BB-3F365EC2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52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MEASURED IMPACT, NOT GUESSED SAVINGS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ED00A6-A06F-43A9-8952-D85ADC4C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76800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Track P95 time-to-clinician for highest-risk rows, override direction, abstention response, fairness drift, and post-triage acuity upgrades.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A89B33-0930-4927-B6AF-177B8C68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9626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Decision gate: continue only if safety signal quality improves without adding unacceptable nurse workload.</a:t>
            </a:r>
          </a:p>
        </p:txBody>
      </p:sp>
    </p:spTree>
    <p:extLst>
      <p:ext uri="{BB962C8B-B14F-4D97-AF65-F5344CB8AC3E}">
        <p14:creationId xmlns:p14="http://schemas.microsoft.com/office/powerpoint/2010/main" val="8274285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33763A-9CF9-400C-8FCC-565335BF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PatientTriage.ai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959B4-DE38-41C4-92AD-8BE38557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C675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D1B34-BDC0-40D3-83D8-E60750F0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63F1F-14C0-4D9C-B2F5-459FD448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Accountability is part of the product, not a footnote.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6D0269-1009-4842-A3BD-F3E4C9E3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The hospital owns the protocol. The clinician owns the decision. Compliance is designed for review, not claimed by slogan.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9F7B5E-52C8-4AE5-8AEC-0D33D6D1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62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PROTOCOL 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7B6EA-63D7-432A-9779-8AAE8996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432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Clinical constants and thresholds are data, not hidden code.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5E074C-046A-48DF-A0F8-94DC218C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052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A100FF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A100FF"/>
                </a:solidFill>
                <a:latin typeface="Arial"/>
                <a:ea typeface="Arial"/>
                <a:cs typeface="Arial"/>
              </a:rPr>
              <a:t>DERIVATION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99C702-66F5-47DD-9BF4-7A657D11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861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Every band carries the layers, fired rules, confidence, and reason.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444E7A-D921-426F-876E-3F8921EB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48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OVERRIDE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2C63B4-911F-4D4C-84EE-FEF46D0A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291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Clinicians can override without friction; the act is visible and logged.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5D5650-FD85-4018-B60B-74715F3B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91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COMPLIANCE POSTURE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73D3BD-10B0-432D-BCBF-413B2AF5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720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DPDP-first minimisation, with HIPAA/GDPR compatibility subject to site validation.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A85997-3029-49F6-8BB9-37D2036B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62250"/>
            <a:ext cx="1143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662644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C04A3C-D6E4-49CF-97FE-779F0CBD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PatientTriage.ai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C8ADD-005F-47E3-91C9-D94CCB63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C675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DFDF4-EB1F-465B-9C4C-C7180FF0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B8AE5-C37F-4B20-B59D-4FB95FFC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Roadmap: prove safety first, integrate second.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5F082-1606-4542-9D16-251142BF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Each phase adds capability only after the previous loop is trusted clinically.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EBEE6-C0A4-4C65-A442-348746BC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Day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B32DF-45CC-4975-B92A-61942404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2A768B-B951-42E6-BE06-7D311FC9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Offline tablet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679247-A261-4ECD-AC94-9CF054C4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Standalone board, local protocol, simulated cohort, override and audit.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6C133A-687D-4F19-BC44-DD34B1D4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95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Month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0B1CA5-B6D7-4F33-A240-4D80EDC2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337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C7C83D-EBAA-46B5-93F1-7E1FF6C4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6385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Read-only listener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1CE41E-BA9C-40A8-B552-44494109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2100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HL7/FHIR feed updates arrivals and vitals without workflow writeback.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204E99-8BB6-4D2F-A88A-F6C2EF16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95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400C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400C0"/>
                </a:solidFill>
                <a:latin typeface="Arial"/>
                <a:ea typeface="Arial"/>
                <a:cs typeface="Arial"/>
              </a:rPr>
              <a:t>Stage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39242C-7F6A-4187-9F6D-49ED6704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337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5626CF-09A6-4722-8ABB-C82B0C8F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385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Flow network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F84A05-A564-4FDC-845C-9459E7DF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100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Bed pressure, regional capacity, and overflow signalling.</a:t>
            </a:r>
          </a:p>
        </p:txBody>
      </p:sp>
    </p:spTree>
    <p:extLst>
      <p:ext uri="{BB962C8B-B14F-4D97-AF65-F5344CB8AC3E}">
        <p14:creationId xmlns:p14="http://schemas.microsoft.com/office/powerpoint/2010/main" val="81831657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5885F3-8606-4FCD-9FFE-C48124A2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PatientTriage.ai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5C3AA0-4077-4125-961E-33B07852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0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C675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53EE61-E491-4441-A411-E2FAD7F9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97A7F9-AA55-4F41-9D16-528E7E6A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The main risks are real; the design already answers them.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FEAFC3-B762-4413-BF63-7C010792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The proposal should not pretend an ED AI product is low-risk. It should show where the risk is contained.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2B8DA-4C93-4547-9B78-4F9E6E47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B1C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B1C11"/>
                </a:solidFill>
                <a:latin typeface="Arial"/>
                <a:ea typeface="Arial"/>
                <a:cs typeface="Arial"/>
              </a:rPr>
              <a:t>Alert fatigue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42E874-D486-4C28-90A6-79FB843C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81275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Only true P1 uses interruptive filled styling; degraded mode sorts by provisional band.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8EAD3-D84B-46A8-BD97-1B808687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8572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48D90E-82D2-4B66-A372-E18440D1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Clinical liability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2DA9FF-C934-4501-9756-68C963D5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28975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Decision support only; derivation and override trail make responsibility explicit.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863F99-AA34-4AF5-A843-804771EA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8572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4C9E83-C4C0-433B-AB4C-95574C06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Bias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614158-FD60-40CF-8BCD-D0C02BF8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76675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Fairness monitor surfaces subgroup upgrade patterns for governance review.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73AF76-E834-4132-B5AF-8094D661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8572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0B78F3-D79C-4966-8A55-C71409A7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Protocol drift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7E5C84-26E5-4090-8B41-DC9254B2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24375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Fixtures and tests catch drift; clinical constants stay in protocol.v1.json.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2D3988-972E-4AAA-B15E-2767D4F2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8572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228B10-E90C-44E8-B88A-ED06F7D7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625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01D"/>
                </a:solidFill>
                <a:latin typeface="Arial"/>
                <a:ea typeface="Arial"/>
                <a:cs typeface="Arial"/>
              </a:rPr>
              <a:t>Privacy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93F4A5-2C67-480D-B0A0-B2E17F93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72075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C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C675F"/>
                </a:solidFill>
                <a:latin typeface="Arial"/>
                <a:ea typeface="Arial"/>
                <a:cs typeface="Arial"/>
              </a:rPr>
              <a:t>Stage 1 avoids direct identifiers and deep integration.</a:t>
            </a:r>
          </a:p>
        </p:txBody>
      </p:sp>
    </p:spTree>
    <p:extLst>
      <p:ext uri="{BB962C8B-B14F-4D97-AF65-F5344CB8AC3E}">
        <p14:creationId xmlns:p14="http://schemas.microsoft.com/office/powerpoint/2010/main" val="12007646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5A8A8-6C90-41D5-BE24-3DAB90B1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DE2D7-E2AB-4F25-9B95-64D8C334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9525">
            <a:solidFill>
              <a:srgbClr val="A100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666BDC-0895-413F-9D62-D29E45DF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Pilot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3495B-A029-454B-B110-6A8E4F87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704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ED. One tablet. Four to six weeks.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40632A-B3AF-4452-9376-57C64CE3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8D8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8D8"/>
                </a:solidFill>
                <a:latin typeface="Arial"/>
                <a:ea typeface="Arial"/>
                <a:cs typeface="Arial"/>
              </a:rPr>
              <a:t>Measure high-risk time-to-clinician, quiet-crash signals, override direction, abstention response, fairness drift, and clinician trust.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0F784D-05F0-4B1B-8BFA-B3D0C77B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6DC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6DCFF"/>
                </a:solidFill>
                <a:latin typeface="Arial"/>
                <a:ea typeface="Arial"/>
                <a:cs typeface="Arial"/>
              </a:rPr>
              <a:t>If the board cannot help a nurse answer 'who do I see next, and why?', it does not scale.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0B348A-83BD-48FA-AA36-10FFA8BD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876300"/>
            <a:ext cx="85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A100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A100FF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0478887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2026-08-30T08:52:44.2910000Z</dcterms:created>
  <dcterms:modified xsi:type="dcterms:W3CDTF">2026-08-30T08:52:44.2920000Z</dcterms:modified>
</coreProperties>
</file>