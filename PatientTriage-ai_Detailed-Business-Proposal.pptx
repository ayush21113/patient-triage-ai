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11b00571549f4" /><Relationship Type="http://schemas.openxmlformats.org/officeDocument/2006/relationships/extended-properties" Target="/docProps/app.xml" Id="R0f8b6ad995944b82" /><Relationship Type="http://schemas.openxmlformats.org/officeDocument/2006/relationships/officeDocument" Target="/ppt/presentation.xml" Id="Rca9029806b01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ef0ee5cdd4dda"/>
  </p:sldMasterIdLst>
  <p:notesMasterIdLst>
    <p:notesMasterId xmlns:r="http://schemas.openxmlformats.org/officeDocument/2006/relationships" r:id="Rf5909791f6bd4e77"/>
  </p:notesMasterIdLst>
  <p:sldIdLst>
    <p:sldId xmlns:r="http://schemas.openxmlformats.org/officeDocument/2006/relationships" id="256" r:id="R00d8f8ebb1384f32"/>
    <p:sldId xmlns:r="http://schemas.openxmlformats.org/officeDocument/2006/relationships" id="257" r:id="Rb87ed9b666e54e3f"/>
    <p:sldId xmlns:r="http://schemas.openxmlformats.org/officeDocument/2006/relationships" id="258" r:id="R5590bf1133fe4dc8"/>
    <p:sldId xmlns:r="http://schemas.openxmlformats.org/officeDocument/2006/relationships" id="259" r:id="Rb2947e69a64e45ed"/>
    <p:sldId xmlns:r="http://schemas.openxmlformats.org/officeDocument/2006/relationships" id="260" r:id="R34e75d4736404ce6"/>
    <p:sldId xmlns:r="http://schemas.openxmlformats.org/officeDocument/2006/relationships" id="261" r:id="R9f1f7b32cc90420f"/>
    <p:sldId xmlns:r="http://schemas.openxmlformats.org/officeDocument/2006/relationships" id="262" r:id="R21a97cf5cbe54e98"/>
    <p:sldId xmlns:r="http://schemas.openxmlformats.org/officeDocument/2006/relationships" id="263" r:id="R118e03241c634281"/>
    <p:sldId xmlns:r="http://schemas.openxmlformats.org/officeDocument/2006/relationships" id="264" r:id="Rf928351306ce4d48"/>
    <p:sldId xmlns:r="http://schemas.openxmlformats.org/officeDocument/2006/relationships" id="265" r:id="Ra394bf15888149db"/>
    <p:sldId xmlns:r="http://schemas.openxmlformats.org/officeDocument/2006/relationships" id="266" r:id="Rfc67b5e1a2b242e7"/>
    <p:sldId xmlns:r="http://schemas.openxmlformats.org/officeDocument/2006/relationships" id="267" r:id="Rc240191af45d44ec"/>
    <p:sldId xmlns:r="http://schemas.openxmlformats.org/officeDocument/2006/relationships" id="268" r:id="R9bc71c354b554d4d"/>
    <p:sldId xmlns:r="http://schemas.openxmlformats.org/officeDocument/2006/relationships" id="269" r:id="R60261adde1144c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7ace2c5e14729" /><Relationship Type="http://schemas.openxmlformats.org/officeDocument/2006/relationships/slideMaster" Target="/ppt/slideMasters/slideMaster1.xml" Id="R6daef0ee5cdd4dda" /><Relationship Type="http://schemas.openxmlformats.org/officeDocument/2006/relationships/notesMaster" Target="/ppt/notesMasters/notesMaster1.xml" Id="Rf5909791f6bd4e77" /><Relationship Type="http://schemas.openxmlformats.org/officeDocument/2006/relationships/presProps" Target="/ppt/presProps.xml" Id="R117e2d2f44f84d42" /><Relationship Type="http://schemas.openxmlformats.org/officeDocument/2006/relationships/tableStyles" Target="/ppt/tableStyles.xml" Id="R2c6f8f3a5a744e6b" /><Relationship Type="http://schemas.openxmlformats.org/officeDocument/2006/relationships/slide" Target="/ppt/slides/slide1.xml" Id="R00d8f8ebb1384f32" /><Relationship Type="http://schemas.openxmlformats.org/officeDocument/2006/relationships/slide" Target="/ppt/slides/slide2.xml" Id="Rb87ed9b666e54e3f" /><Relationship Type="http://schemas.openxmlformats.org/officeDocument/2006/relationships/slide" Target="/ppt/slides/slide3.xml" Id="R5590bf1133fe4dc8" /><Relationship Type="http://schemas.openxmlformats.org/officeDocument/2006/relationships/slide" Target="/ppt/slides/slide4.xml" Id="Rb2947e69a64e45ed" /><Relationship Type="http://schemas.openxmlformats.org/officeDocument/2006/relationships/slide" Target="/ppt/slides/slide5.xml" Id="R34e75d4736404ce6" /><Relationship Type="http://schemas.openxmlformats.org/officeDocument/2006/relationships/slide" Target="/ppt/slides/slide6.xml" Id="R9f1f7b32cc90420f" /><Relationship Type="http://schemas.openxmlformats.org/officeDocument/2006/relationships/slide" Target="/ppt/slides/slide7.xml" Id="R21a97cf5cbe54e98" /><Relationship Type="http://schemas.openxmlformats.org/officeDocument/2006/relationships/slide" Target="/ppt/slides/slide8.xml" Id="R118e03241c634281" /><Relationship Type="http://schemas.openxmlformats.org/officeDocument/2006/relationships/slide" Target="/ppt/slides/slide9.xml" Id="Rf928351306ce4d48" /><Relationship Type="http://schemas.openxmlformats.org/officeDocument/2006/relationships/slide" Target="/ppt/slides/slide10.xml" Id="Ra394bf15888149db" /><Relationship Type="http://schemas.openxmlformats.org/officeDocument/2006/relationships/slide" Target="/ppt/slides/slide11.xml" Id="Rfc67b5e1a2b242e7" /><Relationship Type="http://schemas.openxmlformats.org/officeDocument/2006/relationships/slide" Target="/ppt/slides/slide12.xml" Id="Rc240191af45d44ec" /><Relationship Type="http://schemas.openxmlformats.org/officeDocument/2006/relationships/slide" Target="/ppt/slides/slide13.xml" Id="R9bc71c354b554d4d" /><Relationship Type="http://schemas.openxmlformats.org/officeDocument/2006/relationships/slide" Target="/ppt/slides/slide14.xml" Id="R60261adde1144c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ad43043f3a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89a287ecc4b62" /><Relationship Type="http://schemas.openxmlformats.org/officeDocument/2006/relationships/notesMaster" Target="/ppt/notesMasters/notesMaster1.xml" Id="Rfd8d49388e67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77641e11174c18" /><Relationship Type="http://schemas.openxmlformats.org/officeDocument/2006/relationships/notesMaster" Target="/ppt/notesMasters/notesMaster1.xml" Id="R05ff4dc83c7545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f48e8bceaa4506" /><Relationship Type="http://schemas.openxmlformats.org/officeDocument/2006/relationships/notesMaster" Target="/ppt/notesMasters/notesMaster1.xml" Id="Re29839a8be2345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16cc16098b42c4" /><Relationship Type="http://schemas.openxmlformats.org/officeDocument/2006/relationships/notesMaster" Target="/ppt/notesMasters/notesMaster1.xml" Id="Re5e078a64ba5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1a44f06424fcc" /><Relationship Type="http://schemas.openxmlformats.org/officeDocument/2006/relationships/notesMaster" Target="/ppt/notesMasters/notesMaster1.xml" Id="R8ec0ad8038d9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6288f6add4bc1" /><Relationship Type="http://schemas.openxmlformats.org/officeDocument/2006/relationships/notesMaster" Target="/ppt/notesMasters/notesMaster1.xml" Id="Ra1878368a60e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7eaf163df94cfd" /><Relationship Type="http://schemas.openxmlformats.org/officeDocument/2006/relationships/notesMaster" Target="/ppt/notesMasters/notesMaster1.xml" Id="Rf440c12465d34e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18a266dba4e3a" /><Relationship Type="http://schemas.openxmlformats.org/officeDocument/2006/relationships/notesMaster" Target="/ppt/notesMasters/notesMaster1.xml" Id="R46a48d399dc54f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462478a904604" /><Relationship Type="http://schemas.openxmlformats.org/officeDocument/2006/relationships/notesMaster" Target="/ppt/notesMasters/notesMaster1.xml" Id="Rea48171c8acc40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77183cbefe4815" /><Relationship Type="http://schemas.openxmlformats.org/officeDocument/2006/relationships/notesMaster" Target="/ppt/notesMasters/notesMaster1.xml" Id="R234c87886d064b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ccd36d7fb4ef1" /><Relationship Type="http://schemas.openxmlformats.org/officeDocument/2006/relationships/notesMaster" Target="/ppt/notesMasters/notesMaster1.xml" Id="R667cff20156c49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6d6c8c2e494f8d" /><Relationship Type="http://schemas.openxmlformats.org/officeDocument/2006/relationships/notesMaster" Target="/ppt/notesMasters/notesMaster1.xml" Id="R2314b9cbe8b647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c9039c17d9479d" /><Relationship Type="http://schemas.openxmlformats.org/officeDocument/2006/relationships/notesMaster" Target="/ppt/notesMasters/notesMaster1.xml" Id="Rdff5171de4b448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8558af29a34a5c" /><Relationship Type="http://schemas.openxmlformats.org/officeDocument/2006/relationships/notesMaster" Target="/ppt/notesMasters/notesMaster1.xml" Id="R4627b900e734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C:\Users\PRO\Downloads\AIC_Talent-Brand_PPT-Template (1).pptx, first slide used as opening visual per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C:\Users\PRO\Desktop\Accenture_Innovation_Challenge_2026\mayhem.pdf, page 2 rendered and used as slide 2 per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 request: Detailed Business Proposal for PatientTriage.ai.</a:t>
            </a:r>
          </a:p>
          <a:p xmlns:a="http://schemas.openxmlformats.org/drawingml/2006/main">
            <a:r>
              <a:t>- Template reference: AIC_Talent-Brand_PPT-Template (1).pptx.</a:t>
            </a:r>
          </a:p>
          <a:p xmlns:a="http://schemas.openxmlformats.org/drawingml/2006/main">
            <a:r>
              <a:t>- Live deployment provided by user: https://patient-triage-ai-three.vercel.app/.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problem framing and cited evidence table.</a:t>
            </a:r>
          </a:p>
          <a:p xmlns:a="http://schemas.openxmlformats.org/drawingml/2006/main">
            <a:r>
              <a:t>- docs/08-BRIEF-COVERAGE.md, Round 2 coverage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core principles.</a:t>
            </a:r>
          </a:p>
          <a:p xmlns:a="http://schemas.openxmlformats.org/drawingml/2006/main">
            <a:r>
              <a:t>- docs/02-TRD.md, engine and deployment constraints.</a:t>
            </a:r>
          </a:p>
          <a:p xmlns:a="http://schemas.openxmlformats.org/drawingml/2006/main">
            <a:r>
              <a:t>- docs/03-APP-FLOW.md, board and inspector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docs/08-BRIEF-COVERAGE.md, prototype coverage.</a:t>
            </a:r>
          </a:p>
          <a:p xmlns:a="http://schemas.openxmlformats.org/drawingml/2006/main">
            <a:r>
              <a:t>- assets/data/cohort.json, simulated cohort and expectation blocks.</a:t>
            </a:r>
          </a:p>
          <a:p xmlns:a="http://schemas.openxmlformats.org/drawingml/2006/main">
            <a:r>
              <a:t>- docs/ui-survey/S1-queue-NORMAL-1280x800-light.png, app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target users, adoption constraints, and rollout assumptions.</a:t>
            </a:r>
          </a:p>
          <a:p xmlns:a="http://schemas.openxmlformats.org/drawingml/2006/main">
            <a:r>
              <a:t>- docs/08-BRIEF-COVERAGE.md, target user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docs/AGENTS.md, clinical invariants.</a:t>
            </a:r>
          </a:p>
          <a:p xmlns:a="http://schemas.openxmlformats.org/drawingml/2006/main">
            <a:r>
              <a:t>- docs/02-TRD.md, scoring engine, band floors, cost matrix, and rule evaluation.</a:t>
            </a:r>
          </a:p>
          <a:p xmlns:a="http://schemas.openxmlformats.org/drawingml/2006/main">
            <a:r>
              <a:t>- docs/05-BACKEND-SCHEMA.md, engine assertions and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success metrics and rollout logic.</a:t>
            </a:r>
          </a:p>
          <a:p xmlns:a="http://schemas.openxmlformats.org/drawingml/2006/main">
            <a:r>
              <a:t>- README.md, static deployment and local execution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success metrics and Day 1 offline-tablet rollout.</a:t>
            </a:r>
          </a:p>
          <a:p xmlns:a="http://schemas.openxmlformats.org/drawingml/2006/main">
            <a:r>
              <a:t>- README.md, prototype scope and local execution model.</a:t>
            </a:r>
          </a:p>
          <a:p xmlns:a="http://schemas.openxmlformats.org/drawingml/2006/main">
            <a:r>
              <a:t>- Business-case numbers are pilot-planning assumptions derived from the documented Stage 1 scope, not claimed measured ROI.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docs/05-BACKEND-SCHEMA.md, audit model and retention.</a:t>
            </a:r>
          </a:p>
          <a:p xmlns:a="http://schemas.openxmlformats.org/drawingml/2006/main">
            <a:r>
              <a:t>- docs/01-PRD.md, nurse authority and fairness monitoring.</a:t>
            </a:r>
          </a:p>
          <a:p xmlns:a="http://schemas.openxmlformats.org/drawingml/2006/main">
            <a:r>
              <a:t>- docs/08-BRIEF-COVERAGE.md, jurisdiction and compliance-review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staged rollout.</a:t>
            </a:r>
          </a:p>
          <a:p xmlns:a="http://schemas.openxmlformats.org/drawingml/2006/main">
            <a:r>
              <a:t>- docs/02-TRD.md, static deployment and future integration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risks, success metrics, and adoption model.</a:t>
            </a:r>
          </a:p>
          <a:p xmlns:a="http://schemas.openxmlformats.org/drawingml/2006/main">
            <a:r>
              <a:t>- docs/AGENTS.md and docs/02-TRD.md, non-negotiable invariants.</a:t>
            </a:r>
          </a:p>
          <a:p xmlns:a="http://schemas.openxmlformats.org/drawingml/2006/main">
            <a:r>
              <a:t>- docs/08-BRIEF-COVERAGE.md, risk and compliance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pilot and success metrics.</a:t>
            </a:r>
          </a:p>
          <a:p xmlns:a="http://schemas.openxmlformats.org/drawingml/2006/main">
            <a:r>
              <a:t>- UI-SURVEY-BRIEF.md, arm's-length usability test.</a:t>
            </a:r>
          </a:p>
          <a:p xmlns:a="http://schemas.openxmlformats.org/drawingml/2006/main">
            <a:r>
              <a:t>- User-provided live deployment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6b536bac1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df1e79daa42c7" /><Relationship Type="http://schemas.openxmlformats.org/officeDocument/2006/relationships/slideLayout" Target="/ppt/slideLayouts/slideLayout1.xml" Id="R04e66d7252d3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e66d7252d3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58221e4e14287" /><Relationship Type="http://schemas.openxmlformats.org/officeDocument/2006/relationships/image" Target="/ppt/media/image.png" Id="R1febd47e368b475d" /><Relationship Type="http://schemas.openxmlformats.org/officeDocument/2006/relationships/notesSlide" Target="/ppt/notesSlides/notesSlide1.xml" Id="R5948ebb2c3c2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10a80daef4f6e" /><Relationship Type="http://schemas.openxmlformats.org/officeDocument/2006/relationships/image" Target="/ppt/media/image2.png" Id="R126a8978752141e2" /><Relationship Type="http://schemas.openxmlformats.org/officeDocument/2006/relationships/notesSlide" Target="/ppt/notesSlides/notesSlide2.xml" Id="R3944d6eeba0543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2c9563f3b4380" /><Relationship Type="http://schemas.openxmlformats.org/officeDocument/2006/relationships/notesSlide" Target="/ppt/notesSlides/notesSlide3.xml" Id="Rcd20a7470c17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c5358d467466e" /><Relationship Type="http://schemas.openxmlformats.org/officeDocument/2006/relationships/notesSlide" Target="/ppt/notesSlides/notesSlide4.xml" Id="Rb9a15c041e8b40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7798cf78e4220" /><Relationship Type="http://schemas.openxmlformats.org/officeDocument/2006/relationships/notesSlide" Target="/ppt/notesSlides/notesSlide5.xml" Id="R4cb3a44eee75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68a314cd74417" /><Relationship Type="http://schemas.openxmlformats.org/officeDocument/2006/relationships/image" Target="/ppt/media/image3.png" Id="R1ffadd4376c64420" /><Relationship Type="http://schemas.openxmlformats.org/officeDocument/2006/relationships/notesSlide" Target="/ppt/notesSlides/notesSlide6.xml" Id="R0aa2a6b282a2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d69209226494b" /><Relationship Type="http://schemas.openxmlformats.org/officeDocument/2006/relationships/notesSlide" Target="/ppt/notesSlides/notesSlide7.xml" Id="Rc17d8eb75d5f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0d2877d384d65" /><Relationship Type="http://schemas.openxmlformats.org/officeDocument/2006/relationships/notesSlide" Target="/ppt/notesSlides/notesSlide8.xml" Id="R2389cbf1b07b48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6cb7f8511470c" /><Relationship Type="http://schemas.openxmlformats.org/officeDocument/2006/relationships/notesSlide" Target="/ppt/notesSlides/notesSlide9.xml" Id="Rabef5b03249547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62f2fd8942bd" /><Relationship Type="http://schemas.openxmlformats.org/officeDocument/2006/relationships/notesSlide" Target="/ppt/notesSlides/notesSlide10.xml" Id="Rc2ae37386b3f4b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7b7e750fe4afe" /><Relationship Type="http://schemas.openxmlformats.org/officeDocument/2006/relationships/notesSlide" Target="/ppt/notesSlides/notesSlide11.xml" Id="R290ddb5fffed49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722dab0240be" /><Relationship Type="http://schemas.openxmlformats.org/officeDocument/2006/relationships/notesSlide" Target="/ppt/notesSlides/notesSlide12.xml" Id="Ra19c01ee4cf14e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a00bc581646f4" /><Relationship Type="http://schemas.openxmlformats.org/officeDocument/2006/relationships/notesSlide" Target="/ppt/notesSlides/notesSlide13.xml" Id="Rb7b0488a5a3c40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8a61c8750434c" /><Relationship Type="http://schemas.openxmlformats.org/officeDocument/2006/relationships/notesSlide" Target="/ppt/notesSlides/notesSlide14.xml" Id="Re780d6f930ca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bd47e368b47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85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a8978752141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39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EBD0D-C79C-484B-B045-9CFEA8A2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EAF28-EC2B-4828-BEA5-47D6491F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8AC22-B72D-4BFA-9717-EC1AB76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AA551-25AE-4F49-910A-FB2351D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DETAILED BUSINESS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AFC9D-47AB-4501-ACCF-8E9CFC16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queue is alive.</a:t>
            </a:r>
          </a:p>
          <a:p xmlns:a="http://schemas.openxmlformats.org/drawingml/2006/main">
            <a:pPr>
              <a:defRPr sz="39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Triage should be too.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8AF72-A176-4386-82E5-3CCC5B1C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 static, offline-capable decision-support layer for emergency-department waiting rooms.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B9CA8-D56D-44AE-A03C-09F655C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FFC6F-BAE6-4ABF-8F17-7D46056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5F2D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5F2DB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27BE1-CB51-479C-9CA5-3910E267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patient-triage-ai-three.vercel.app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55CEE-498C-457D-8C09-DCD5B22C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144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72445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5B956-B289-473F-A7EE-FD997A8E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D7E42-6AE6-4CE7-BB75-6C01DC83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224AF-995A-41D3-A602-10F71CD2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9A2CF-510B-4BCE-8993-94AE8DCA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ED triage has a blind spot: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BE5BA-90E7-4B8D-8D66-C9B7DB87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 patient can become unsafe while still sitting in the same waiting-room chair.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709A2-ED15-437E-A542-00F4A975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00125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93639-BA9A-4D0B-914D-19FEDE3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238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current system remembers the first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EE945-5D22-4FC2-A12D-5FF28B83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Patient risk does 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FF305-703C-48D6-B708-9FD5E0D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That gap is where quiet crashes happen.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36A1F-1A4F-454B-B372-C974F7A1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3.3%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002F4-70A9-435D-95B5-402F5DE3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undertriaged life-stabilising encounters in the PRD evidence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63D4C-EBBE-4546-8FA6-E67AE803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BE729-8C0A-47D1-A860-F6FF411F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50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50A0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B717F-1E9E-4C5A-906D-A08B9A4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reported ESI decision point B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B91DA-B231-49B2-9192-88C5C597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78B3D-F365-4B52-8697-7CCBBAAE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14h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9B056-DA8C-4B19-BBCC-34FF42DD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814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consultation delay cited for a high-volume Indian ED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E8DE2-540E-4F6F-A099-0492B2F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0F31C-AB07-47B3-B8C2-677DD02A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WHAT GOES WRONG DURING THE 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F4364-2E7A-4B36-9AB1-AB30823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EDE51-2E99-4F95-811D-6A54018C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Sparse history, one-time 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1AEB9-0C2F-4DDE-8800-C09DCBC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E0BA8-144B-4945-A0E4-93C2656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DA680-2197-4922-B2A4-5031EB52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Crowding delays reassessment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B4826-D446-4C7D-BFC2-5FB560D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BDAB4-E0BA-4B34-9DAF-096755A8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Drift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31AD3-C4CB-44C1-9237-FE8937C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Vitals and symptoms move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33891C-A9D2-4238-9937-AE93872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D9FB3-DE13-4831-81E2-222083DE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Miss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724CD-AA07-473B-AE68-752F2A1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Atypical risk stays invisible</a:t>
            </a:r>
          </a:p>
        </p:txBody>
      </p:sp>
    </p:spTree>
    <p:extLst>
      <p:ext uri="{BB962C8B-B14F-4D97-AF65-F5344CB8AC3E}">
        <p14:creationId xmlns:p14="http://schemas.microsoft.com/office/powerpoint/2010/main" val="942183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D637F-63D6-447B-951D-105BDA9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A7996-6851-467E-8FBB-6842D1F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58C92-EB5C-4190-8F8B-8B8BA518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4CC71-A185-445A-962D-3AAA21C3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 keeps the waiting room clinically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D7767-D611-44F4-9908-7B43041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It does not replace triage. It watches for the cases that static triage is most likely to miss.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22DD4-F9F7-4C0A-B64D-CE042E51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8CE37-C5BE-410B-9AC2-00FA9565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Arrival complaint, vitals, age band, pregnancy status, visual signs, sparse reassessments.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D3832-A564-4EFD-B77A-FAD8AA5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BC883-5C89-45B2-B563-2DACD94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DCCBF-A0C4-4BEE-AC43-8DC2875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Hard rules + physiology + presentation risk + time hazard + uncertainty.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743BB-61A4-4790-82EB-68AEF1E8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2369E-DE31-45AE-AD38-52EB6D5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70157-43CC-4A47-AA68-D53EEFE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Confidence, derivation, fired rules, resolving question, and override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34B0A-8427-41C6-95D1-A4BFCE7B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F53FD-455D-434C-B098-B8CC3875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Nurse decides.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5D7A2-F9D9-4764-A2C2-0E20F5B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No patient movement. No treatment order. No hidden automation.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19D06-D061-4844-8185-7E1A3D5D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product earns trust by showing what it knows, what it does not know, and why it escalated.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79254-7057-4C72-8D15-0BC06C09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578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3647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437EA-E0F5-4DE9-82CE-968C1E80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D005E-8273-4202-8F64-679C793C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1889-4CD3-43E0-ACF9-9BD86034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3FC5F-8261-4E59-A805-29E94116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prototype already tests the awkward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6DF44-AB5D-4D2C-9124-7DFF38B8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demo is not just a happy path queue; it includes ambiguity, missing data, surge, and age-specific risk.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add4376c64420"/>
          <a:stretch xmlns:a="http://schemas.openxmlformats.org/drawingml/2006/main"/>
        </p:blipFill>
        <p:spPr>
          <a:xfrm xmlns:a="http://schemas.openxmlformats.org/drawingml/2006/main">
            <a:off x="828675" y="2705100"/>
            <a:ext cx="556260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FCDF1-4845-422B-BBB8-FA3A2F5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9B496-A3F8-4EB4-887B-2EC7400E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keyframed simulated 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4CDE5-DAEC-40DC-9210-5AB149AE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PT-0007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B330B-CEB5-4DB0-9A15-E953AC2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ambiguous abdominal pain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DDFA4-2599-4814-8170-3B3EF82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PT-0013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15CF3-29C7-4695-A0F1-0B4D31D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29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zero-history P1 lockout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C6548-AAC0-46A3-998D-BEAB27F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3x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40532-8E5D-4DD0-BE80-D47CDB0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surge stress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5F9B3-616D-4576-9B99-3F83EABD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Every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95704-CD62-4639-9619-5C9DBD6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62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confidence + derivation</a:t>
            </a:r>
          </a:p>
        </p:txBody>
      </p:sp>
    </p:spTree>
    <p:extLst>
      <p:ext uri="{BB962C8B-B14F-4D97-AF65-F5344CB8AC3E}">
        <p14:creationId xmlns:p14="http://schemas.microsoft.com/office/powerpoint/2010/main" val="86981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68099-09AB-475A-AA88-0F743AD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525C9-2EA5-4B63-9F45-D4F12A2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BCFE2-B9D7-4ED1-B808-DB328900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BF5E0-D7F2-4CF2-8297-853422B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Designed for the people carrying the ED queue.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70F3D-5059-438B-8398-D11C188F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interface and operating model are built for interruption, sparse data, and clinical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33941-F9A8-47E1-820D-18443D06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TRIAGE NURSE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00E58-7FDB-4107-8939-F53A5CB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a fast second set of eyes, not another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429F3-DB31-4C63-8FFB-CC9E2415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CHARGE NURSE / ED PHYSICIAN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04A02-79AF-452F-BB55-179A918B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to know who is deteriorating before the next loud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023A7-8C50-4DF7-BEBC-5D3C638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CLINICAL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7B673-CFDC-40D2-9A0C-D2E836E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evidence: derivation, fairness monitor, override trail, protocol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1DA7F-6B2A-40E3-98EF-2AFD8F5F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HOSPITAL LEADERSHIP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5870B-1DDA-479B-8020-52889645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a low-friction pilot before committing to integration spend.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7BD7B-695B-47F6-A909-65AA5DBA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1143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09538-10E0-4D59-BF08-39E3CE18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19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5710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B67BB-0CF7-4150-A7A2-5B03CAD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7FC82-A62C-4903-B9DC-7F5BFD2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3F862-A208-4C05-8015-9C0851AD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72E1B-5CF5-44AF-AE3A-D88067B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safety architecture is intentionally conservative.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FF2EF-DB44-4E45-9CE3-01A8FC72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Undertriage is treated as more costly than overtriage, and uncertainty is shown rather than averaged away.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C7989-2769-433D-9988-6D23964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1"/>
          </a:solidFill>
          <a:ln xmlns:a="http://schemas.openxmlformats.org/drawingml/2006/main" w="9525">
            <a:solidFill>
              <a:srgbClr val="9B1C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C44C1-0713-4A36-8306-254EF500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670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Hard clinical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CD456-4F2C-40FD-B2D7-C3EBD03A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PIN_P1 and FLOOR_P2 outrank the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91601-1435-4738-A8C0-75348894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59EB5-6870-4ABD-A8D0-B2F8BDC2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52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Population-specific physiology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1F865-D171-485E-8F0A-6F8D697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Age band and pregnancy path selected before thresholds.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28889-3A14-47E7-93D4-0B31674A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D0BF8-81DA-4E83-BE82-5322F262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Presentation floors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8AC8A-D418-44BD-B041-934B014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Dangerous symptoms can escalate despite normal vitals.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4A734-E829-4797-A616-CC400C0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2625E-FD70-49FD-A4C0-62776C0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Uncertainty states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524CE-E01E-410B-A19F-85490F89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UNRESOLVED asks; UNRESOLVABLE escalates; INSUFFICIENT refuses false certainty.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F6531-2E2C-4C4B-8B75-213D3D0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84210-DB3F-4434-B4E4-D0CAB52A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8:1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C117A-6B10-4EF0-979C-593322F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81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undertriage asymmetry</a:t>
            </a:r>
          </a:p>
        </p:txBody>
      </p:sp>
    </p:spTree>
    <p:extLst>
      <p:ext uri="{BB962C8B-B14F-4D97-AF65-F5344CB8AC3E}">
        <p14:creationId xmlns:p14="http://schemas.microsoft.com/office/powerpoint/2010/main" val="1123768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4D169-D991-4795-B154-AAE2E25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66086-93CB-48F2-843D-4CEF4B85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818E6-BECC-49A7-AE4A-ABC858C4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EF54F-0DD4-4721-8D11-6A7CAE4D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business case is safer escalation without rip-and-replace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AE700-31FB-423E-823F-C15E00C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PatientTriage.ai creates value before deep integration: it gives clinicians a live queue signal and gives leaders an auditable safety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E592D-2719-41FC-93A6-15D1119C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BB11F-BD9F-4E39-88D8-8838F99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Reduce quiet-crash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EDDAC-D853-4BEA-B27E-061F53D7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9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Earlier visibility for patients becoming unsafe while waiting.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795BC-AD47-49DA-8167-9D0941CC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670EB-B4D9-408A-939F-DF1C435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Pilot quickly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1682C-FDA0-4C79-95EE-426A6D2E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runs on one offline-capable tablet with no new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C7C10-77DD-442D-A6AC-C8841CA4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9650B-4FF3-4A68-98BA-B4827531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F2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F2DB"/>
                </a:solidFill>
                <a:latin typeface="Arial"/>
                <a:ea typeface="Arial"/>
                <a:cs typeface="Arial"/>
              </a:rPr>
              <a:t>What not to optimise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F0F46-B96D-4F6F-BC76-B4C56F19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wait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D2623-EF7B-4161-83F7-BDEA044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The success metric is whether the highest-risk waiting patients are seen sooner.</a:t>
            </a:r>
          </a:p>
        </p:txBody>
      </p:sp>
    </p:spTree>
    <p:extLst>
      <p:ext uri="{BB962C8B-B14F-4D97-AF65-F5344CB8AC3E}">
        <p14:creationId xmlns:p14="http://schemas.microsoft.com/office/powerpoint/2010/main" val="1448839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38056-527F-446E-950B-4EEE466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2D198-850C-4584-95AD-4F7B76D6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63329-2C0D-4394-BFF1-7706E398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DFC08-C426-4414-B497-5B69AB4C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Pilot economics are small enough to test, but measurable enough to judge.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5C2A8-F57E-4448-9912-B22CF1F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proposal does not need a claimed ROI to be credible; it needs a falsifiable pilot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05F10-DB1C-4880-887D-30D9E08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PILOT ENVELOPE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23D58-664C-4D76-A1BA-F3F089F5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4-6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CDD7-9A62-40E4-98DD-9F8E28A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one ED observation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94859-6F8A-4544-8427-D15BF8EA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1 tablet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D931E-E910-4412-80A4-E792D9FB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hardware footprint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C8CD9-B2AD-4996-BA2B-71A859D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0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0A0"/>
                </a:solidFill>
                <a:latin typeface="Arial"/>
                <a:ea typeface="Arial"/>
                <a:cs typeface="Arial"/>
              </a:rPr>
              <a:t>No EHR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DC284-1578-4671-AA61-6845A640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manual/simulated data entry for first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CD6AA-6035-41A6-A976-E307926E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Weekly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74FC5-8E42-446A-9A62-2FB1DF1B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clinical governance cadence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FD15D-A59B-42C6-A5A9-0C7FC35E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E83DD-0C65-4FFB-B989-87A6A8E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BREAK-EVEN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AF188-C864-4592-9BE6-CA45DCEF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If the pilot prevents even a small number of clinically significant waiting-room escalations, the value case moves from software efficiency to risk reduction.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24EF3-1716-458C-8E78-EF7F0EF6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MEASURED IMPACT, NOT GUESSED SAVINGS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AB854-2A58-4182-B4E2-5C2204A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Track P95 time-to-clinician for highest-risk rows, override direction, abstention response, fairness drift, and post-triage acuity upgrades.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327D0-716E-43BB-B335-C49F4D7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62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Decision gate: continue only if safety signal quality improves without adding unacceptable nurse workload.</a:t>
            </a:r>
          </a:p>
        </p:txBody>
      </p:sp>
    </p:spTree>
    <p:extLst>
      <p:ext uri="{BB962C8B-B14F-4D97-AF65-F5344CB8AC3E}">
        <p14:creationId xmlns:p14="http://schemas.microsoft.com/office/powerpoint/2010/main" val="6430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1CB00-FDD0-44A0-B168-B457205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57F2A-3EB9-4F22-BEB6-588777C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55F6E-5B30-4A59-B7B8-E155DCE6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D09A-BCA2-4856-9931-8313CEC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Accountability is part of the product, not a footnote.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5E16C-4C18-4D79-9E3C-D982865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hospital owns the protocol. The clinician owns the decision. Compliance is designed for review, not claimed by slogan.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B6CE8-51B2-454C-B89B-A7997CC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PROTOCOL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7AF1B-DB6D-40B5-BF44-499B29AE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Clinical constants and thresholds are data, not hidden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A19D3-853A-4B62-9C20-91B533B2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DERIVATION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10587-4B5E-4710-A9FF-069F377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Every band carries the layers, fired rules, confidence, and reason.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FDDF5-FF3E-42AD-B526-DBCC5034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OVERRIDE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92E62-AA02-43CC-94D3-BAA7A3D6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Clinicians can override without friction; the act is visible and logged.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CA8F6-F8F6-4B6E-B9A9-CA263A92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COMPLIANCE POSTURE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FA65C-7A51-490C-9757-8243244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DPDP-first minimisation, with HIPAA/GDPR compatibility subject to site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13421-A8E9-49FC-A675-9AB33B5E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1143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5546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199C7-1960-4E38-AF5D-D347F858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28633-34BA-44D9-8A7A-8C916FFA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CA0C-90A3-4E0F-B33A-6E057C53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0199D-77A6-4271-8715-B0701E03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Roadmap: prove safety first, integrate 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61537-D700-4D8D-8E63-CB428A12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Each phase adds capability only after the previous loop is trusted clinically.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F2C9D-2AA3-4A40-A340-8BB45C5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46612-B9FA-4B3F-B742-E5075A2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22B47-898D-4A1A-8916-5144415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Offline tablet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EA05B-C3E3-4825-9B98-1DB9D11D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Standalone board, local protocol, simulated cohort, override and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EE27D-75DF-42A5-B6B1-3D16479E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Month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75687-C02F-40E2-8466-733ECF46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08CE8-C76E-4723-9B1C-789913DC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Read-only listener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720CE-F522-495D-A151-DF69E23D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HL7/FHIR feed updates arrivals and vitals without workflow writeback.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428EB-8D16-4E84-884D-C7524D3E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88E10-7743-4152-8C36-4DF5FC21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5AE9F-7D3C-4B39-926D-F33F62A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Flow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B1455-2650-41B2-900F-49414081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Bed pressure, regional capacity, and overflow signalling.</a:t>
            </a:r>
          </a:p>
        </p:txBody>
      </p:sp>
    </p:spTree>
    <p:extLst>
      <p:ext uri="{BB962C8B-B14F-4D97-AF65-F5344CB8AC3E}">
        <p14:creationId xmlns:p14="http://schemas.microsoft.com/office/powerpoint/2010/main" val="49446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FC607-F538-4833-9AB0-67D624A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D9124-2B59-4588-A4F4-AC87DB6B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138C1-7231-4A7C-99AF-0FC1996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2B39-1604-49C5-8977-3D548DD7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main risks are real; the design already answers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6FB7-A8D1-4684-9319-B47C90B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proposal should not pretend an ED AI product is low-risk. It should show where the risk is contained.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B86EF-80BF-4F82-B6CB-069DEB0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Alert fatigue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CE8F4-D000-478B-8C67-F768D9D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812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Only true P1 uses interruptive filled styling; degraded mode sorts by provisional band.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4176-D2F4-4181-8997-3CFE040E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2692B-2438-45FC-8717-1684538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Clinical liability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AA94A-355D-4B5A-9B54-73E97E38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289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Decision support only; derivation and override trail make responsibility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D7550-B8F5-48C7-87AF-13D240B0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58E41-37C1-47FA-B0D8-A07ACE81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C20AE-8371-4D00-A850-B0F280C6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Fairness monitor surfaces subgroup upgrade patterns for governance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5D4FB-A8C8-4384-BAC6-95048DA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BDE8A-30BF-4AF1-90DA-083F525B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Protocol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99FD2-608D-4310-8517-5443E5E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243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Fixtures and tests catch drift; clinical constants stay in protocol.v1.json.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B569B-FA45-40F1-999D-F4E1E98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97466-3325-4F08-A550-8E801900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1D490-4122-4F83-A78D-E19A2CA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720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avoids direct identifiers and deep integration.</a:t>
            </a:r>
          </a:p>
        </p:txBody>
      </p:sp>
    </p:spTree>
    <p:extLst>
      <p:ext uri="{BB962C8B-B14F-4D97-AF65-F5344CB8AC3E}">
        <p14:creationId xmlns:p14="http://schemas.microsoft.com/office/powerpoint/2010/main" val="1571159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953AC-09D8-4185-9F62-3A89E504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E39A9-352F-4009-A572-456399B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CCCCC-9705-413B-A90F-9287621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Pilot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13703-8899-430D-86C0-F58A62D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7429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One ED. One tablet.</a:t>
            </a:r>
          </a:p>
          <a:p xmlns:a="http://schemas.openxmlformats.org/drawingml/2006/main">
            <a:pPr>
              <a:defRPr sz="37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Four to six weeks.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F7209-3ED0-4205-A68B-C9FDEE35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Measure high-risk time-to-clinician, quiet-crash signals, override direction, abstention response, fairness drift, and clinician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AC953-7D6D-4D73-BF9B-52247F54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752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BB8F9-75D5-41CB-838B-39467304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If the board cannot help a nurse answer 'who do I see next, and why?', it does not scale.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E02F-A9BC-49EE-B4C5-7AA5125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763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40544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2026-08-30T13:36:26.6650000Z</dcterms:created>
  <dcterms:modified xsi:type="dcterms:W3CDTF">2026-08-30T13:36:26.6650000Z</dcterms:modified>
</coreProperties>
</file>