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c561199d9455c" /><Relationship Type="http://schemas.openxmlformats.org/officeDocument/2006/relationships/extended-properties" Target="/docProps/app.xml" Id="R872b23da271f4f64" /><Relationship Type="http://schemas.openxmlformats.org/officeDocument/2006/relationships/officeDocument" Target="/ppt/presentation.xml" Id="R029194dd56eb4d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6304940d2a41de"/>
  </p:sldMasterIdLst>
  <p:notesMasterIdLst>
    <p:notesMasterId xmlns:r="http://schemas.openxmlformats.org/officeDocument/2006/relationships" r:id="R292dce6330784159"/>
  </p:notesMasterIdLst>
  <p:sldIdLst>
    <p:sldId xmlns:r="http://schemas.openxmlformats.org/officeDocument/2006/relationships" id="256" r:id="Rb47fbb4a03d0417b"/>
    <p:sldId xmlns:r="http://schemas.openxmlformats.org/officeDocument/2006/relationships" id="257" r:id="Rbf02d8abb5994dd2"/>
    <p:sldId xmlns:r="http://schemas.openxmlformats.org/officeDocument/2006/relationships" id="258" r:id="R6df5c42cd5024760"/>
    <p:sldId xmlns:r="http://schemas.openxmlformats.org/officeDocument/2006/relationships" id="259" r:id="Rd18e17121f224dad"/>
    <p:sldId xmlns:r="http://schemas.openxmlformats.org/officeDocument/2006/relationships" id="260" r:id="Rb5d5e1f5abff4b98"/>
    <p:sldId xmlns:r="http://schemas.openxmlformats.org/officeDocument/2006/relationships" id="261" r:id="R06f5be918a4e4ebd"/>
    <p:sldId xmlns:r="http://schemas.openxmlformats.org/officeDocument/2006/relationships" id="262" r:id="R01fbbf6c6ce14ce7"/>
    <p:sldId xmlns:r="http://schemas.openxmlformats.org/officeDocument/2006/relationships" id="263" r:id="R7aebb805d6a7468e"/>
    <p:sldId xmlns:r="http://schemas.openxmlformats.org/officeDocument/2006/relationships" id="264" r:id="Rddc8fc6567ab461b"/>
    <p:sldId xmlns:r="http://schemas.openxmlformats.org/officeDocument/2006/relationships" id="265" r:id="R13624543c0e84f6f"/>
    <p:sldId xmlns:r="http://schemas.openxmlformats.org/officeDocument/2006/relationships" id="266" r:id="Rd9ce9793631d4cb1"/>
    <p:sldId xmlns:r="http://schemas.openxmlformats.org/officeDocument/2006/relationships" id="267" r:id="R73ea3e2edfcc4d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b59705b264375" /><Relationship Type="http://schemas.openxmlformats.org/officeDocument/2006/relationships/slideMaster" Target="/ppt/slideMasters/slideMaster1.xml" Id="R196304940d2a41de" /><Relationship Type="http://schemas.openxmlformats.org/officeDocument/2006/relationships/notesMaster" Target="/ppt/notesMasters/notesMaster1.xml" Id="R292dce6330784159" /><Relationship Type="http://schemas.openxmlformats.org/officeDocument/2006/relationships/presProps" Target="/ppt/presProps.xml" Id="R092ab0e96cd14611" /><Relationship Type="http://schemas.openxmlformats.org/officeDocument/2006/relationships/tableStyles" Target="/ppt/tableStyles.xml" Id="R50d82e472ef247a1" /><Relationship Type="http://schemas.openxmlformats.org/officeDocument/2006/relationships/slide" Target="/ppt/slides/slide1.xml" Id="Rb47fbb4a03d0417b" /><Relationship Type="http://schemas.openxmlformats.org/officeDocument/2006/relationships/slide" Target="/ppt/slides/slide2.xml" Id="Rbf02d8abb5994dd2" /><Relationship Type="http://schemas.openxmlformats.org/officeDocument/2006/relationships/slide" Target="/ppt/slides/slide3.xml" Id="R6df5c42cd5024760" /><Relationship Type="http://schemas.openxmlformats.org/officeDocument/2006/relationships/slide" Target="/ppt/slides/slide4.xml" Id="Rd18e17121f224dad" /><Relationship Type="http://schemas.openxmlformats.org/officeDocument/2006/relationships/slide" Target="/ppt/slides/slide5.xml" Id="Rb5d5e1f5abff4b98" /><Relationship Type="http://schemas.openxmlformats.org/officeDocument/2006/relationships/slide" Target="/ppt/slides/slide6.xml" Id="R06f5be918a4e4ebd" /><Relationship Type="http://schemas.openxmlformats.org/officeDocument/2006/relationships/slide" Target="/ppt/slides/slide7.xml" Id="R01fbbf6c6ce14ce7" /><Relationship Type="http://schemas.openxmlformats.org/officeDocument/2006/relationships/slide" Target="/ppt/slides/slide8.xml" Id="R7aebb805d6a7468e" /><Relationship Type="http://schemas.openxmlformats.org/officeDocument/2006/relationships/slide" Target="/ppt/slides/slide9.xml" Id="Rddc8fc6567ab461b" /><Relationship Type="http://schemas.openxmlformats.org/officeDocument/2006/relationships/slide" Target="/ppt/slides/slide10.xml" Id="R13624543c0e84f6f" /><Relationship Type="http://schemas.openxmlformats.org/officeDocument/2006/relationships/slide" Target="/ppt/slides/slide11.xml" Id="Rd9ce9793631d4cb1" /><Relationship Type="http://schemas.openxmlformats.org/officeDocument/2006/relationships/slide" Target="/ppt/slides/slide12.xml" Id="R73ea3e2edfcc4d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df2a57d9bd41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33cf9b117f4916" /><Relationship Type="http://schemas.openxmlformats.org/officeDocument/2006/relationships/notesMaster" Target="/ppt/notesMasters/notesMaster1.xml" Id="R9ee3c35e312b47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03b97fd2034feb" /><Relationship Type="http://schemas.openxmlformats.org/officeDocument/2006/relationships/notesMaster" Target="/ppt/notesMasters/notesMaster1.xml" Id="R69eabd4801434b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7ca748c93241bc" /><Relationship Type="http://schemas.openxmlformats.org/officeDocument/2006/relationships/notesMaster" Target="/ppt/notesMasters/notesMaster1.xml" Id="Rfdbda5bf8e5443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200585b0a4032" /><Relationship Type="http://schemas.openxmlformats.org/officeDocument/2006/relationships/notesMaster" Target="/ppt/notesMasters/notesMaster1.xml" Id="Re59842672e8747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fe8b558a242ff" /><Relationship Type="http://schemas.openxmlformats.org/officeDocument/2006/relationships/notesMaster" Target="/ppt/notesMasters/notesMaster1.xml" Id="R0fa1f7897eac43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0d9bc035214aa1" /><Relationship Type="http://schemas.openxmlformats.org/officeDocument/2006/relationships/notesMaster" Target="/ppt/notesMasters/notesMaster1.xml" Id="R87276cec4d79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f11e39c37c4417" /><Relationship Type="http://schemas.openxmlformats.org/officeDocument/2006/relationships/notesMaster" Target="/ppt/notesMasters/notesMaster1.xml" Id="R018ac96cd7fe48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758052df5648c5" /><Relationship Type="http://schemas.openxmlformats.org/officeDocument/2006/relationships/notesMaster" Target="/ppt/notesMasters/notesMaster1.xml" Id="Rc0e05fe8741548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9844c0f459473d" /><Relationship Type="http://schemas.openxmlformats.org/officeDocument/2006/relationships/notesMaster" Target="/ppt/notesMasters/notesMaster1.xml" Id="Reb8d516262d64e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be509ac5ae4328" /><Relationship Type="http://schemas.openxmlformats.org/officeDocument/2006/relationships/notesMaster" Target="/ppt/notesMasters/notesMaster1.xml" Id="Rab21b996694240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2ddb3a098d41e1" /><Relationship Type="http://schemas.openxmlformats.org/officeDocument/2006/relationships/notesMaster" Target="/ppt/notesMasters/notesMaster1.xml" Id="R1ccd3a3718e2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d03aeef21f47bd" /><Relationship Type="http://schemas.openxmlformats.org/officeDocument/2006/relationships/notesMaster" Target="/ppt/notesMasters/notesMaster1.xml" Id="R9749224b9374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C:\Users\PRO\Downloads\AIC_Talent-Brand_PPT-Template (1).pptx, first slide used as opening visual per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User request: Detailed Business Proposal for PatientTriage.ai.</a:t>
            </a:r>
          </a:p>
          <a:p xmlns:a="http://schemas.openxmlformats.org/drawingml/2006/main">
            <a:r>
              <a:t>- Template reference: AIC_Talent-Brand_PPT-Template (1).pptx.</a:t>
            </a:r>
          </a:p>
          <a:p xmlns:a="http://schemas.openxmlformats.org/drawingml/2006/main">
            <a:r>
              <a:t>- Live deployment provided by user: https://patient-triage-ai-three.vercel.app/.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problem framing and cited evidence table.</a:t>
            </a:r>
          </a:p>
          <a:p xmlns:a="http://schemas.openxmlformats.org/drawingml/2006/main">
            <a:r>
              <a:t>- docs/08-BRIEF-COVERAGE.md, Round 2 coverage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core principles.</a:t>
            </a:r>
          </a:p>
          <a:p xmlns:a="http://schemas.openxmlformats.org/drawingml/2006/main">
            <a:r>
              <a:t>- docs/02-TRD.md, engine and deployment constraints.</a:t>
            </a:r>
          </a:p>
          <a:p xmlns:a="http://schemas.openxmlformats.org/drawingml/2006/main">
            <a:r>
              <a:t>- docs/03-APP-FLOW.md, board and inspector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docs/08-BRIEF-COVERAGE.md, prototype coverage.</a:t>
            </a:r>
          </a:p>
          <a:p xmlns:a="http://schemas.openxmlformats.org/drawingml/2006/main">
            <a:r>
              <a:t>- assets/data/cohort.json, simulated cohort and expectation blocks.</a:t>
            </a:r>
          </a:p>
          <a:p xmlns:a="http://schemas.openxmlformats.org/drawingml/2006/main">
            <a:r>
              <a:t>- docs/ui-survey/S1-queue-NORMAL-1280x800-light.png, app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target users, adoption constraints, and rollout assumptions.</a:t>
            </a:r>
          </a:p>
          <a:p xmlns:a="http://schemas.openxmlformats.org/drawingml/2006/main">
            <a:r>
              <a:t>- docs/08-BRIEF-COVERAGE.md, target user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docs/AGENTS.md, clinical invariants.</a:t>
            </a:r>
          </a:p>
          <a:p xmlns:a="http://schemas.openxmlformats.org/drawingml/2006/main">
            <a:r>
              <a:t>- docs/02-TRD.md, scoring engine, band floors, cost matrix, and rule evaluation.</a:t>
            </a:r>
          </a:p>
          <a:p xmlns:a="http://schemas.openxmlformats.org/drawingml/2006/main">
            <a:r>
              <a:t>- docs/05-BACKEND-SCHEMA.md, engine assertions and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success metrics and rollout logic.</a:t>
            </a:r>
          </a:p>
          <a:p xmlns:a="http://schemas.openxmlformats.org/drawingml/2006/main">
            <a:r>
              <a:t>- README.md, static deployment and local execution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docs/05-BACKEND-SCHEMA.md, audit model and retention.</a:t>
            </a:r>
          </a:p>
          <a:p xmlns:a="http://schemas.openxmlformats.org/drawingml/2006/main">
            <a:r>
              <a:t>- docs/01-PRD.md, nurse authority and fairness monitoring.</a:t>
            </a:r>
          </a:p>
          <a:p xmlns:a="http://schemas.openxmlformats.org/drawingml/2006/main">
            <a:r>
              <a:t>- docs/08-BRIEF-COVERAGE.md, jurisdiction and compliance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staged rollout.</a:t>
            </a:r>
          </a:p>
          <a:p xmlns:a="http://schemas.openxmlformats.org/drawingml/2006/main">
            <a:r>
              <a:t>- docs/02-TRD.md, static deployment and future integration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risks, success metrics, and adoption model.</a:t>
            </a:r>
          </a:p>
          <a:p xmlns:a="http://schemas.openxmlformats.org/drawingml/2006/main">
            <a:r>
              <a:t>- docs/AGENTS.md and docs/02-TRD.md, non-negotiable invariants.</a:t>
            </a:r>
          </a:p>
          <a:p xmlns:a="http://schemas.openxmlformats.org/drawingml/2006/main">
            <a:r>
              <a:t>- docs/08-BRIEF-COVERAGE.md, risk and compliance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pilot and success metrics.</a:t>
            </a:r>
          </a:p>
          <a:p xmlns:a="http://schemas.openxmlformats.org/drawingml/2006/main">
            <a:r>
              <a:t>- UI-SURVEY-BRIEF.md, arm's-length usability test.</a:t>
            </a:r>
          </a:p>
          <a:p xmlns:a="http://schemas.openxmlformats.org/drawingml/2006/main">
            <a:r>
              <a:t>- User-provided live deployment 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53f8d2062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6dd9d474d44e8c" /><Relationship Type="http://schemas.openxmlformats.org/officeDocument/2006/relationships/slideLayout" Target="/ppt/slideLayouts/slideLayout1.xml" Id="Ref807a463a99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07a463a99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c4113bfcc487d" /><Relationship Type="http://schemas.openxmlformats.org/officeDocument/2006/relationships/image" Target="/ppt/media/image.png" Id="R3c38e2c527f84dfc" /><Relationship Type="http://schemas.openxmlformats.org/officeDocument/2006/relationships/notesSlide" Target="/ppt/notesSlides/notesSlide1.xml" Id="Rcffa06bde492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40826a8a4c85" /><Relationship Type="http://schemas.openxmlformats.org/officeDocument/2006/relationships/notesSlide" Target="/ppt/notesSlides/notesSlide2.xml" Id="R9384dc4cbb7e40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0a5b40cb64bf8" /><Relationship Type="http://schemas.openxmlformats.org/officeDocument/2006/relationships/notesSlide" Target="/ppt/notesSlides/notesSlide3.xml" Id="R718883a6dc694d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8521d83e349a9" /><Relationship Type="http://schemas.openxmlformats.org/officeDocument/2006/relationships/notesSlide" Target="/ppt/notesSlides/notesSlide4.xml" Id="Rd2f86cd12cf148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467735665437d" /><Relationship Type="http://schemas.openxmlformats.org/officeDocument/2006/relationships/image" Target="/ppt/media/image2.png" Id="R998a04ec763849a1" /><Relationship Type="http://schemas.openxmlformats.org/officeDocument/2006/relationships/notesSlide" Target="/ppt/notesSlides/notesSlide5.xml" Id="R068161d6854d46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4463abb024ae5" /><Relationship Type="http://schemas.openxmlformats.org/officeDocument/2006/relationships/notesSlide" Target="/ppt/notesSlides/notesSlide6.xml" Id="R3db024069b3a4c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69a66db2741d1" /><Relationship Type="http://schemas.openxmlformats.org/officeDocument/2006/relationships/notesSlide" Target="/ppt/notesSlides/notesSlide7.xml" Id="R4997a379ad1248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8e1c302e248d2" /><Relationship Type="http://schemas.openxmlformats.org/officeDocument/2006/relationships/notesSlide" Target="/ppt/notesSlides/notesSlide8.xml" Id="R245076b0f5e547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b9ca5b4084e52" /><Relationship Type="http://schemas.openxmlformats.org/officeDocument/2006/relationships/notesSlide" Target="/ppt/notesSlides/notesSlide9.xml" Id="R212035ddceea4a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92f423e0d43fd" /><Relationship Type="http://schemas.openxmlformats.org/officeDocument/2006/relationships/notesSlide" Target="/ppt/notesSlides/notesSlide10.xml" Id="Rb96382471dbc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71ce86265469a" /><Relationship Type="http://schemas.openxmlformats.org/officeDocument/2006/relationships/notesSlide" Target="/ppt/notesSlides/notesSlide11.xml" Id="R47c6d88fbcb34f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687519c81415d" /><Relationship Type="http://schemas.openxmlformats.org/officeDocument/2006/relationships/notesSlide" Target="/ppt/notesSlides/notesSlide12.xml" Id="R6a0e82cfbc894a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8e2c527f84d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83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5E4B0-27BD-4781-85BD-4093809D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49DD6-9F98-4546-AE59-D2AD75E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0DBEC-B24B-4700-BA4B-D5F0732D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9695C-7AFD-4534-B6AC-5A5C2E2A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DETAILED BUSINESS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0C12F-0668-412A-8D46-FECB7AB4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queue is alive.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Triage should be too.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0594C-F1F7-4752-A60F-B984B69D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A static, offline-capable decision-support layer for emergency-department waiting rooms.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4F858-E5D9-4595-9866-7AA88D0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675F"/>
          </a:solidFill>
          <a:ln xmlns:a="http://schemas.openxmlformats.org/drawingml/2006/main" w="9525">
            <a:solidFill>
              <a:srgbClr val="6C67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C9275-F95E-4673-82C2-E83DA9B8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5F2D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5F2DB"/>
                </a:solidFill>
                <a:latin typeface="Arial"/>
                <a:ea typeface="Arial"/>
                <a:cs typeface="Arial"/>
              </a:rPr>
              <a:t>Live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8A807-2920-4AE2-9152-461D957C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patient-triage-ai-three.vercel.app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40B81-2CFB-4093-8C8B-AE3BDA76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144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12239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391BD2-3049-4DAD-9E8C-A00BD8A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78C2F-6BAC-4BF3-8FEA-1AA86607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5E3E5-28BA-4043-9F65-C8F4A000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14A13-3814-4869-93CF-32D046BF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ED triage has a blind spot: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119BB-F109-4522-B4E0-0E4C1890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 patient can become unsafe while still sitting in the same waiting-room chair.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F0E70-7B9E-4786-943E-4AC9C0F7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00125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453FF-6D40-4C5F-B9A8-1DDC085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71600"/>
            <a:ext cx="238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current system remembers the first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54E0A-00BC-4B91-97A2-6F6E667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Patient risk does not.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7D8B4-4267-462B-A3E8-96117FD5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That gap is where quiet crashes happen.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C6319-EBAF-4868-BC83-91A6433B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3.3%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1454C-9833-4C48-9775-ED4DB3E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undertriaged life-stabilising encounters in the PRD evidence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DB24F-20D5-40A1-BCA8-5EE72717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26256-80D4-49A8-932B-9CD9C03C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50A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50A0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AEF28-5DF2-4237-9252-B1B2103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reported ESI decision point B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59AAF-A523-4B33-9407-796837A8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9B442-070D-444C-BE90-2250AFE4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14h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10450-4B80-475E-ABA7-81A8EDFA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814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consultation delay cited for a high-volume Indian ED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C1D9A-176A-4BAE-8D20-57E0B7FD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0BD8D-7165-49FD-AF93-9AA53832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WHAT GOES WRONG DURING THE 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21FF7-0B46-4FEA-AEDF-F32F4B01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6AADB-C75F-4850-84C9-B08526A9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Sparse history, one-time category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705D5-7177-4F9C-8D03-36C3884F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51C3B-DCB5-4B4C-A3AF-E3E5483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78732-DA6F-4139-89E9-11B041A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Crowding delays reassessment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39934-769C-4171-A17E-1D68C775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4A477-1138-4B3B-BF71-5BAA40A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Drift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87C586-6C53-468D-ACD4-4CC84D04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Vitals and symptoms move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F3400B-E438-451C-9456-E3B59C9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2841D-C988-4F36-93DF-F5ECFD8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Miss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9FC7C-9B4F-4BFA-9781-B7919742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Atypical risk stays invisible</a:t>
            </a:r>
          </a:p>
        </p:txBody>
      </p:sp>
    </p:spTree>
    <p:extLst>
      <p:ext uri="{BB962C8B-B14F-4D97-AF65-F5344CB8AC3E}">
        <p14:creationId xmlns:p14="http://schemas.microsoft.com/office/powerpoint/2010/main" val="299460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F24A8-D925-4527-8820-5B157B8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A4469-DCC8-449D-858A-250E5D0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A4A89-F9A3-44E4-86EB-FEE779BD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2C13E-8427-4CD5-8BCA-63AE11DD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 keeps the waiting room clinically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5DCF3-9C98-4D2C-8988-7EEEB16F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It does not replace triage. It watches for the cases that static triage is most likely to miss.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6E6BC-7C0B-489E-B5A6-0BA2C17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BB2FB-632A-415E-A66A-C9747010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908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Arrival complaint, vitals, age band, pregnancy status, visual signs, sparse reassessments.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6FFDB-868B-4A73-876B-F2B64346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A7F68-9BA5-4E9A-AABA-7BCA7CCD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2639A-CB84-4A79-9237-29A10A32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Hard rules + physiology + presentation risk + time hazard + uncertainty.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D5834-8863-40D9-8ADC-36DAC8C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63ABA-D8FB-4928-81BA-41474B4B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C9F8D-4273-4DB3-9142-7ED13F4C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Confidence, derivation, fired rules, resolving question, and override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5B4B9-F992-40F7-A9CD-70665F43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8067E-3B97-4C98-86DA-5C5AF427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Nurse decides.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A20F2-97A5-47A6-8687-347BE24B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No patient movement. No treatment order. No hidden automation.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AB91B-D243-4F52-9BC1-0EDCE41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product earns trust by showing what it knows, what it does not know, and why it escalated.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2E256-876D-4F10-BFE9-D6DE8EF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578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556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61C2E-7B2B-4860-A72B-CDFCCF68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5CE3C-D0E9-45D8-8C81-E4C9FB89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3BCE4-CE27-4A70-BAF7-918A5AA2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BDFF3-39AC-4484-913A-DEB9C85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prototype already tests the awkward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AF992-74FD-4AF3-8D7E-72E6E9E1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demo is not just a happy path queue; it includes ambiguity, missing data, surge, and age-specific risk.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a04ec763849a1"/>
          <a:stretch xmlns:a="http://schemas.openxmlformats.org/drawingml/2006/main"/>
        </p:blipFill>
        <p:spPr>
          <a:xfrm xmlns:a="http://schemas.openxmlformats.org/drawingml/2006/main">
            <a:off x="828675" y="2705100"/>
            <a:ext cx="556260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F2149-4842-448A-A922-34B476CD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EB42E-2371-4E0A-BF12-3C44829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keyframed simulated patients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A6E9C-6089-43CE-92D0-1C7F6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PT-0007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E168F-24EF-48F4-849F-0102DD89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ambiguous abdominal pain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6F397-94E1-4F00-AFC7-DFC41B8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PT-0013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65084-BB95-4594-8DD4-5CE297DD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29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zero-history P1 lockout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77773-27A2-4EC2-AF02-E14E1C5E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3x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619EE-6EF2-4CAF-96EA-67D9B49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95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surge stress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25D2A-8D78-49F1-A84C-7E10D59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Every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47B54-0DF9-4952-BBA3-A4FF2CA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62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confidence + derivation</a:t>
            </a:r>
          </a:p>
        </p:txBody>
      </p:sp>
    </p:spTree>
    <p:extLst>
      <p:ext uri="{BB962C8B-B14F-4D97-AF65-F5344CB8AC3E}">
        <p14:creationId xmlns:p14="http://schemas.microsoft.com/office/powerpoint/2010/main" val="2066720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793F7-66FD-4852-BE84-CF506613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C60FE-2795-48B7-AD0A-5BCE5DD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02DB0-6218-4E6B-8BDF-27D92D77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94B7C-3D08-42BC-B4EF-EABE60B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Designed for the people carrying the ED queue.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68876-CE25-4724-964C-24E5000C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interface and operating model are built for interruption, sparse data, and clinical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77279-B5BE-4B61-8BA2-55D0C62E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TRIAGE NURSE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A5D32-32A2-4A57-A785-98DC3489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a fast second set of eyes, not another 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2D863-000D-4B8D-B5F5-2E6AE8E9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CHARGE NURSE / ED PHYSICIAN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E74AF-566C-4624-86B9-940BE4B7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to know who is deteriorating before the next loud 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2D7F3-463A-40C0-BFD0-2F7927F6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CLINICAL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31580-62A9-470C-BD96-BEA5003E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evidence: derivation, fairness monitor, override trail, protocol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A1A04-250A-4718-A5EC-FFF03BBD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HOSPITAL LEADERSHIP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55F01-1EDA-48DB-8AFC-01086548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a low-friction pilot before committing to integration spend.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A32E3-F969-4F18-9856-C4651B3A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1143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C6E9A-E433-4A0D-BD68-0F82FA72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19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5762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5782B-B176-4059-B97F-EDAD2CEC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72689-4620-4448-BABD-F17A53F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DF15F-85FC-4EA5-ACCF-A41C943B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22D1E-BCE3-463C-BF5F-5E632FC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safety architecture is intentionally conservative.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D553B-4C36-4CFE-A067-5E41D81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Undertriage is treated as more costly than overtriage, and uncertainty is shown rather than averaged away.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0D6DB-BC59-40AE-9294-88C62613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1"/>
          </a:solidFill>
          <a:ln xmlns:a="http://schemas.openxmlformats.org/drawingml/2006/main" w="9525">
            <a:solidFill>
              <a:srgbClr val="9B1C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B800E-F997-4A48-987D-1B32B557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670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Hard clinical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B9BB0-9709-44B6-A631-A0B4BBEE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PIN_P1 and FLOOR_P2 outrank the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7F8F0-C945-4137-A5E1-5F38508F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478C5-B75A-4B8C-98AA-494ABDFE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52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Population-specific physiology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EBE4F-939B-4570-AC0A-AA4565C8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Age band and pregnancy path selected before thresholds.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E37E8-F9E4-44B9-AD95-CFE89679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26CFB-8149-47F1-A537-B28A6BE5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38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Presentation floors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131D7-C421-4409-90B4-2E5D08A9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Dangerous symptoms can escalate despite normal vitals.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3BD59-615C-46E4-8528-7B8175F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B83E0-9164-474B-8A27-08549FF7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Uncertainty states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A64D3-9931-41C5-A21E-F8DBDF3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UNRESOLVED asks; UNRESOLVABLE escalates; INSUFFICIENT refuses false certainty.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D6836-7E0B-4E65-9C31-87A62EDD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28B66-E2C3-444A-999A-AE8E531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8:1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05F72-772B-4B13-AE90-8B4587CA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814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undertriage asymmetry</a:t>
            </a:r>
          </a:p>
        </p:txBody>
      </p:sp>
    </p:spTree>
    <p:extLst>
      <p:ext uri="{BB962C8B-B14F-4D97-AF65-F5344CB8AC3E}">
        <p14:creationId xmlns:p14="http://schemas.microsoft.com/office/powerpoint/2010/main" val="1683304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E57FF-A221-45CB-B8CE-94F3B035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CDB79-5DE8-438B-8EB8-2FA1E855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D2C13-E80F-481E-8595-2251C1DF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8AFEA-9E80-4E71-91C5-DAB63EA2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business case is safer escalation without rip-and-replace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9973-5D39-484A-9093-21B5A03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PatientTriage.ai creates value before deep integration: it gives clinicians a live queue signal and gives leaders an auditable safety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8F575-60BB-4335-AE02-DA9AE06D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93AA1-B66B-4004-BDC6-434D5532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Reduce quiet-crash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9BE94-AF96-4540-8D89-A644114E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09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Earlier visibility for patients becoming unsafe while waiting.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5E942-62F7-4408-8F2B-DA2AA950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816F1-9564-4769-854C-9BF67189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Pilot quickly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3E35B-ACD7-4361-902F-9F92CC32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runs on one offline-capable tablet with no new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85C2A-0C43-4B41-972C-CE51D4E3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527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287A2-5AF5-4543-9187-75567BC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F2D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F2DB"/>
                </a:solidFill>
                <a:latin typeface="Arial"/>
                <a:ea typeface="Arial"/>
                <a:cs typeface="Arial"/>
              </a:rPr>
              <a:t>What not to optimise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78794-0DDB-49F5-92C9-D3E76D61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wait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4E2F2-F886-488F-8A5D-D3F54EE2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The success metric is whether the highest-risk waiting patients are seen sooner.</a:t>
            </a:r>
          </a:p>
        </p:txBody>
      </p:sp>
    </p:spTree>
    <p:extLst>
      <p:ext uri="{BB962C8B-B14F-4D97-AF65-F5344CB8AC3E}">
        <p14:creationId xmlns:p14="http://schemas.microsoft.com/office/powerpoint/2010/main" val="1218067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86BF2-725E-456B-B50E-30E76C28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E71BC-2F11-405C-83B7-2F56DCEE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238F9-4268-48F1-8A4D-5B06E58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21E4A-E0FC-4041-966E-891C2F6B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Accountability is part of the product, not a footnote.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FCC30-14D4-47AE-AFE7-A6F26343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hospital owns the protocol. The clinician owns the decision. The system owns the evidence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163FD-9FE9-4663-9098-113706E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PROTOCOL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8BACE-4E06-4D0D-89A8-E21EF4AF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Clinical constants and thresholds are data, not hidden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34FDB-85EF-4402-A50A-4087F3CA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DERIVATION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2066C-74BD-4A55-8CCD-06F6F5C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Every band carries the layers, fired rules, confidence, and reason.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1E580-587D-4B73-A7CE-4A7680BF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OVERRIDE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AF174-B2D9-4FF7-9ADC-A66D740A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Clinicians can override without friction; the act is visible and logged.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6DAC7-3882-4582-A012-966F7322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FAIRNESS MONITOR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8B9F3-A10D-407A-950C-DC2F81F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Subgroup upgrade patterns become review signals, not buried logs.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5C3AB-8556-4330-9A3B-2350CBD4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1143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8380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1414A-D2C5-4B70-A58C-F20CF0D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A65A3-B899-49A1-A5E5-0042EB0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0EA48-6907-4F97-BA59-E65E9329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1F2FB-25B8-46A6-8293-FD2E4E47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Roadmap: prove safety first, integrate second.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FB828-F926-4919-A7F5-134503FF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Each phase adds capability only after the previous loop is trusted clinically.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BB5B3-7737-47E2-8583-006E5258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2B71A-51AA-4C05-8010-4B6CA4E7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A4C0C-228B-45B7-A7E3-17550CC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Offline tablet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273B5-A005-4CAD-81E1-017A575E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Standalone board, local protocol, simulated cohort, override and audit.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421AB-A95A-45B7-A373-1F31263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Month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92FCC-0EE1-4132-9CC0-42DCABF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64BC3-5E5D-431C-A567-F57D3166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Read-only listener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60BF8-6385-49A8-9769-FDF8D4F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HL7/FHIR feed updates arrivals and vitals without workflow writeback.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BF8CB-D5DC-4CE9-84B8-08348088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F4963-30F1-4A15-BBE7-216612D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D718A-BC59-4A4E-84D6-6D49452F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Flow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14EB2-5723-4B42-8DB6-21D83B17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Bed pressure, regional capacity, and overflow signalling.</a:t>
            </a:r>
          </a:p>
        </p:txBody>
      </p:sp>
    </p:spTree>
    <p:extLst>
      <p:ext uri="{BB962C8B-B14F-4D97-AF65-F5344CB8AC3E}">
        <p14:creationId xmlns:p14="http://schemas.microsoft.com/office/powerpoint/2010/main" val="2136847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B4760-732D-4381-8136-8EB283E3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1AAA1-902C-42F2-9114-8A4A5D4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0E96D-F9C7-4D75-A84F-6CC0436A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63261-7CBA-41BD-84D0-4502D060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main risks are real; the design already answers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E23D9-CEE3-4BB2-A10B-2B56980A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proposal should not pretend an ED AI product is low-risk. It should show where the risk is contained.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528CD-0D34-4D99-B3AC-00728933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Alert fatigue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6047F-F081-474D-B543-3E7DD56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812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Only true P1 uses interruptive filled styling; degraded mode sorts by provisional band.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4F198-540A-4B8A-9FB4-46ACA4EB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0981E-2C38-4F13-97AA-FE5C0854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Clinical liability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C8C66-26DE-4C3B-A9E4-8BEADC5B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289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Decision support only; derivation and override trail make responsibility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00531-43D3-44D4-A3A8-A12A304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73633-EFA2-4EFB-A8D6-640F9BD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Bias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179F0-F93A-4457-9EEF-D202745E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Fairness monitor surfaces subgroup upgrade patterns for governance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E2985-0487-43DD-93D8-89ABDB9C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B0373-B55C-407A-9E21-BEA01B2D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Protocol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368DB-A2B8-455E-89F0-7F25B21A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243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Fixtures and tests catch drift; clinical constants stay in protocol.v1.json.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DC1C4-9586-4932-8133-53648CF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68A07-A1DE-45F2-8F4B-098C49D8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6F044-D4A1-4E71-BF47-0B240A6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720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avoids direct identifiers and deep integration.</a:t>
            </a:r>
          </a:p>
        </p:txBody>
      </p:sp>
    </p:spTree>
    <p:extLst>
      <p:ext uri="{BB962C8B-B14F-4D97-AF65-F5344CB8AC3E}">
        <p14:creationId xmlns:p14="http://schemas.microsoft.com/office/powerpoint/2010/main" val="804000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F8711-A82A-48C0-B812-DB56DE0A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D93AD-E1D4-4DCC-AAF8-5FA0A633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E00A5-F5CC-42C5-BA3B-D2B9106D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11035-33ED-4ED7-806F-F49DFB83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704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ED. One tablet. Four to six weeks.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61D5C-554A-4D84-A79E-D42D951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Measure high-risk time-to-clinician, quiet-crash signals, override direction, abstention response, fairness drift, and clinician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17F3A-5138-4929-A797-32AFDAEE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If the board cannot help a nurse answer 'who do I see next, and why?', it does not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9D80A-0B4E-484E-837B-423A8B61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763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4834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2026-08-29T21:55:31.7840000Z</dcterms:created>
  <dcterms:modified xsi:type="dcterms:W3CDTF">2026-08-29T21:55:31.7840000Z</dcterms:modified>
</coreProperties>
</file>